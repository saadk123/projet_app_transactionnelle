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135" autoAdjust="0"/>
    <p:restoredTop sz="94610"/>
  </p:normalViewPr>
  <p:slideViewPr>
    <p:cSldViewPr snapToGrid="0" snapToObjects="1">
      <p:cViewPr varScale="1">
        <p:scale>
          <a:sx n="119" d="100"/>
          <a:sy n="119" d="100"/>
        </p:scale>
        <p:origin x="22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9782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sommes l'équipe The Musketeers. Notre projet s'appelle LinkUp. L'idée principale est simple : aider des étudiants à trouver rapidement un moment commun, sans passer leur temps à comparer les horaires un par un.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l'organisation, on s'est séparé selon les forces de chacun. Saad a surtout travaillé sur le backend, l'API et le cloud. Marat a aidé sur le backend et les tests Postman. Charbel a travaillé sur le frontend, le design et la connexion avec le backend. Alexis a travaillé sur la documentation, le diagramme UML, le frontend et certains tests.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besoin vient d'un problème très concret. Au secondaire, beaucoup de monde a un horaire similaire. Au cégep, c'est différent. LinkUp centralise les horaires et aide les groupes à repérer les moments communs plus vite.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démo, il faut éviter de partir dans tous les sens. Le meilleur chemin est : connexion ou création de compte, ajout d'horaire, création ou accès à un groupe, gestion des invitations ou demandes, puis affichage des disponibilités communes.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fonctionnalités principales sont centrées sur le compte, l'horaire, les groupes et les disponibilités communes. Le cœur du projet, c'est vraiment la comparaison des horaires entre les membres d'un groupe.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Techniquement, on garde une séparation claire. Le frontend est en Next.js et React. L'API est en Spring Boot avec Java. Les données sont réparties entre PostgreSQL et MongoDB selon leur nature. On a aussi travaillé avec Render et Aiven pour faciliter le déploiement cloud.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pile technologique est moderne, mais elle reste cohérente avec ce qu'on connaît déjà. Spring Boot nous permet de construire l'API, Next.js et React servent pour l'interface, et les outils comme Postman, JUnit et GitHub aident à tester et organiser le travail.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de données peut se résumer comme ça : un étudiant possède un horaire, un horaire contient des activités, et un groupe rassemble plusieurs étudiants. Les notifications et invitations servent à gérer les actions autour des groupes.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 choix techniques ne sont pas juste là pour faire beau. Spring Boot donne une API robuste en Java. Next.js structure le frontend. PostgreSQL et MongoDB nous permettent de traiter des types de données différents. Le cloud simplifie les tests et la présentation.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plus gros apprentissage, c'est le passage d'un projet plus simple à une vraie application structurée. On a appris à mieux séparer les responsabilités, à utiliser Git plus sérieusement, à tester l'API et à travailler avec une logique de déploiement.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LinkUp part d'un problème simple, mais le projet nous a permis de toucher à beaucoup d'aspects d'une application transactionnelle : interface, API, base de données, tests, Git et déploiement. Ensuite, on peut passer à la démonstration en direct.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1020"/>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txBody>
          <a:bodyPr/>
          <a:lstStyle/>
          <a:p>
            <a:endParaRPr lang="en-US"/>
          </a:p>
        </p:txBody>
      </p:sp>
      <p:sp>
        <p:nvSpPr>
          <p:cNvPr id="3" name="Shape 1"/>
          <p:cNvSpPr/>
          <p:nvPr/>
        </p:nvSpPr>
        <p:spPr>
          <a:xfrm>
            <a:off x="11247120" y="347472"/>
            <a:ext cx="438912"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4" name="Shape 2"/>
          <p:cNvSpPr/>
          <p:nvPr/>
        </p:nvSpPr>
        <p:spPr>
          <a:xfrm>
            <a:off x="11411712" y="566928"/>
            <a:ext cx="512064" cy="18288"/>
          </a:xfrm>
          <a:prstGeom prst="rect">
            <a:avLst/>
          </a:prstGeom>
          <a:solidFill>
            <a:srgbClr val="8B5CF6">
              <a:alpha val="95000"/>
            </a:srgbClr>
          </a:solidFill>
          <a:ln w="12700">
            <a:solidFill>
              <a:srgbClr val="333333">
                <a:alpha val="0"/>
              </a:srgbClr>
            </a:solidFill>
            <a:prstDash val="solid"/>
          </a:ln>
        </p:spPr>
        <p:txBody>
          <a:bodyPr/>
          <a:lstStyle/>
          <a:p>
            <a:endParaRPr lang="en-US"/>
          </a:p>
        </p:txBody>
      </p:sp>
      <p:sp>
        <p:nvSpPr>
          <p:cNvPr id="5" name="Shape 3"/>
          <p:cNvSpPr/>
          <p:nvPr/>
        </p:nvSpPr>
        <p:spPr>
          <a:xfrm>
            <a:off x="11100816" y="786384"/>
            <a:ext cx="402336"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6" name="Text 4"/>
          <p:cNvSpPr/>
          <p:nvPr/>
        </p:nvSpPr>
        <p:spPr>
          <a:xfrm>
            <a:off x="566928" y="402336"/>
            <a:ext cx="4389120" cy="256032"/>
          </a:xfrm>
          <a:prstGeom prst="rect">
            <a:avLst/>
          </a:prstGeom>
          <a:noFill/>
          <a:ln/>
        </p:spPr>
        <p:txBody>
          <a:bodyPr wrap="square" lIns="0" tIns="0" rIns="0" bIns="0" rtlCol="0" anchor="ctr"/>
          <a:lstStyle/>
          <a:p>
            <a:pPr marL="0" indent="0">
              <a:buNone/>
            </a:pPr>
            <a:r>
              <a:rPr lang="en-US" sz="1150" b="1" dirty="0">
                <a:solidFill>
                  <a:srgbClr val="22D3EE"/>
                </a:solidFill>
                <a:latin typeface="Aptos" pitchFamily="34" charset="0"/>
                <a:ea typeface="Aptos" pitchFamily="34" charset="-122"/>
                <a:cs typeface="Aptos" pitchFamily="34" charset="-120"/>
              </a:rPr>
              <a:t>PROJET D’APPLICATION TRANSACTIONNELLE</a:t>
            </a:r>
            <a:endParaRPr lang="en-US" sz="1150" dirty="0"/>
          </a:p>
        </p:txBody>
      </p:sp>
      <p:sp>
        <p:nvSpPr>
          <p:cNvPr id="7" name="Text 5"/>
          <p:cNvSpPr/>
          <p:nvPr/>
        </p:nvSpPr>
        <p:spPr>
          <a:xfrm>
            <a:off x="530352" y="1261872"/>
            <a:ext cx="4389120" cy="685800"/>
          </a:xfrm>
          <a:prstGeom prst="rect">
            <a:avLst/>
          </a:prstGeom>
          <a:noFill/>
          <a:ln/>
        </p:spPr>
        <p:txBody>
          <a:bodyPr wrap="square" lIns="508" tIns="508" rIns="508" bIns="508" rtlCol="0" anchor="t">
            <a:normAutofit/>
          </a:bodyPr>
          <a:lstStyle/>
          <a:p>
            <a:pPr marL="0" indent="0" algn="l">
              <a:lnSpc>
                <a:spcPct val="92000"/>
              </a:lnSpc>
              <a:buNone/>
            </a:pPr>
            <a:r>
              <a:rPr lang="en-US" sz="5200" b="1" dirty="0">
                <a:solidFill>
                  <a:srgbClr val="F8FAFC"/>
                </a:solidFill>
                <a:latin typeface="Aptos Display" pitchFamily="34" charset="0"/>
                <a:ea typeface="Aptos Display" pitchFamily="34" charset="-122"/>
                <a:cs typeface="Aptos Display" pitchFamily="34" charset="-120"/>
              </a:rPr>
              <a:t>LinkUp</a:t>
            </a:r>
            <a:endParaRPr lang="en-US" sz="5200" dirty="0"/>
          </a:p>
        </p:txBody>
      </p:sp>
      <p:sp>
        <p:nvSpPr>
          <p:cNvPr id="8" name="Text 6"/>
          <p:cNvSpPr/>
          <p:nvPr/>
        </p:nvSpPr>
        <p:spPr>
          <a:xfrm>
            <a:off x="566928" y="2331720"/>
            <a:ext cx="5486400" cy="1188720"/>
          </a:xfrm>
          <a:prstGeom prst="rect">
            <a:avLst/>
          </a:prstGeom>
          <a:noFill/>
          <a:ln/>
        </p:spPr>
        <p:txBody>
          <a:bodyPr wrap="square" lIns="508" tIns="508" rIns="508" bIns="508" rtlCol="0" anchor="t">
            <a:normAutofit/>
          </a:bodyPr>
          <a:lstStyle/>
          <a:p>
            <a:pPr marL="0" indent="0" algn="l">
              <a:lnSpc>
                <a:spcPct val="92000"/>
              </a:lnSpc>
              <a:buNone/>
            </a:pPr>
            <a:r>
              <a:rPr lang="en-US" sz="2900" b="1" dirty="0">
                <a:solidFill>
                  <a:srgbClr val="F8FAFC"/>
                </a:solidFill>
                <a:latin typeface="Aptos Display" pitchFamily="34" charset="0"/>
                <a:ea typeface="Aptos Display" pitchFamily="34" charset="-122"/>
                <a:cs typeface="Aptos Display" pitchFamily="34" charset="-120"/>
              </a:rPr>
              <a:t>Trouver un moment commun</a:t>
            </a:r>
            <a:endParaRPr lang="en-US" sz="2900" dirty="0"/>
          </a:p>
          <a:p>
            <a:pPr marL="0" indent="0" algn="l">
              <a:lnSpc>
                <a:spcPct val="92000"/>
              </a:lnSpc>
              <a:buNone/>
            </a:pPr>
            <a:r>
              <a:rPr lang="en-US" sz="2900" b="1" dirty="0">
                <a:solidFill>
                  <a:srgbClr val="F8FAFC"/>
                </a:solidFill>
                <a:latin typeface="Aptos Display" pitchFamily="34" charset="0"/>
                <a:ea typeface="Aptos Display" pitchFamily="34" charset="-122"/>
                <a:cs typeface="Aptos Display" pitchFamily="34" charset="-120"/>
              </a:rPr>
              <a:t>sans perdre du temps à comparer les horaires.</a:t>
            </a:r>
            <a:endParaRPr lang="en-US" sz="2900" dirty="0"/>
          </a:p>
        </p:txBody>
      </p:sp>
      <p:sp>
        <p:nvSpPr>
          <p:cNvPr id="9" name="Text 7"/>
          <p:cNvSpPr/>
          <p:nvPr/>
        </p:nvSpPr>
        <p:spPr>
          <a:xfrm>
            <a:off x="566928" y="3931920"/>
            <a:ext cx="1517904" cy="402336"/>
          </a:xfrm>
          <a:prstGeom prst="roundRect">
            <a:avLst/>
          </a:prstGeom>
          <a:solidFill>
            <a:srgbClr val="111A2E"/>
          </a:solidFill>
          <a:ln w="12700">
            <a:solidFill>
              <a:srgbClr val="22D3EE"/>
            </a:solidFill>
          </a:ln>
        </p:spPr>
        <p:txBody>
          <a:bodyPr wrap="square" lIns="381" tIns="381" rIns="381" bIns="381" rtlCol="0" anchor="ctr">
            <a:normAutofit/>
          </a:bodyPr>
          <a:lstStyle/>
          <a:p>
            <a:pPr marL="0" indent="0" algn="ctr">
              <a:buNone/>
            </a:pPr>
            <a:r>
              <a:rPr lang="en-US" sz="1250" b="1" dirty="0">
                <a:solidFill>
                  <a:srgbClr val="F8FAFC"/>
                </a:solidFill>
                <a:latin typeface="Aptos" pitchFamily="34" charset="0"/>
                <a:ea typeface="Aptos" pitchFamily="34" charset="-122"/>
                <a:cs typeface="Aptos" pitchFamily="34" charset="-120"/>
              </a:rPr>
              <a:t>The Musketeers</a:t>
            </a:r>
            <a:endParaRPr lang="en-US" sz="1250" dirty="0"/>
          </a:p>
        </p:txBody>
      </p:sp>
      <p:sp>
        <p:nvSpPr>
          <p:cNvPr id="10" name="Text 8"/>
          <p:cNvSpPr/>
          <p:nvPr/>
        </p:nvSpPr>
        <p:spPr>
          <a:xfrm>
            <a:off x="566928" y="4572000"/>
            <a:ext cx="5669280" cy="329184"/>
          </a:xfrm>
          <a:prstGeom prst="rect">
            <a:avLst/>
          </a:prstGeom>
          <a:noFill/>
          <a:ln/>
        </p:spPr>
        <p:txBody>
          <a:bodyPr wrap="square" lIns="508" tIns="508" rIns="508" bIns="508" rtlCol="0" anchor="t">
            <a:normAutofit/>
          </a:bodyPr>
          <a:lstStyle/>
          <a:p>
            <a:pPr marL="0" indent="0" algn="l">
              <a:lnSpc>
                <a:spcPct val="92000"/>
              </a:lnSpc>
              <a:buNone/>
            </a:pPr>
            <a:r>
              <a:rPr lang="en-US" sz="1650" dirty="0">
                <a:solidFill>
                  <a:srgbClr val="CBD5E1"/>
                </a:solidFill>
                <a:latin typeface="Aptos" pitchFamily="34" charset="0"/>
                <a:ea typeface="Aptos" pitchFamily="34" charset="-122"/>
                <a:cs typeface="Aptos" pitchFamily="34" charset="-120"/>
              </a:rPr>
              <a:t>Saad Kayrouz · Carl-Charbel Eid · Alexis · Marat</a:t>
            </a:r>
            <a:endParaRPr lang="en-US" sz="1650" dirty="0"/>
          </a:p>
        </p:txBody>
      </p:sp>
      <p:sp>
        <p:nvSpPr>
          <p:cNvPr id="11" name="Shape 9"/>
          <p:cNvSpPr/>
          <p:nvPr/>
        </p:nvSpPr>
        <p:spPr>
          <a:xfrm>
            <a:off x="6903720" y="1078992"/>
            <a:ext cx="4526280" cy="4434840"/>
          </a:xfrm>
          <a:prstGeom prst="roundRect">
            <a:avLst>
              <a:gd name="adj" fmla="val 2062"/>
            </a:avLst>
          </a:prstGeom>
          <a:solidFill>
            <a:srgbClr val="0E172A"/>
          </a:solidFill>
          <a:ln w="15240">
            <a:solidFill>
              <a:srgbClr val="334155"/>
            </a:solidFill>
            <a:prstDash val="solid"/>
          </a:ln>
        </p:spPr>
        <p:txBody>
          <a:bodyPr/>
          <a:lstStyle/>
          <a:p>
            <a:endParaRPr lang="en-US"/>
          </a:p>
        </p:txBody>
      </p:sp>
      <p:sp>
        <p:nvSpPr>
          <p:cNvPr id="12" name="Shape 10"/>
          <p:cNvSpPr/>
          <p:nvPr/>
        </p:nvSpPr>
        <p:spPr>
          <a:xfrm>
            <a:off x="7452360" y="1600200"/>
            <a:ext cx="0" cy="3337560"/>
          </a:xfrm>
          <a:prstGeom prst="line">
            <a:avLst/>
          </a:prstGeom>
          <a:noFill/>
          <a:ln w="8890">
            <a:solidFill>
              <a:srgbClr val="334155">
                <a:alpha val="90000"/>
              </a:srgbClr>
            </a:solidFill>
            <a:prstDash val="solid"/>
          </a:ln>
        </p:spPr>
        <p:txBody>
          <a:bodyPr/>
          <a:lstStyle/>
          <a:p>
            <a:endParaRPr lang="en-US"/>
          </a:p>
        </p:txBody>
      </p:sp>
      <p:sp>
        <p:nvSpPr>
          <p:cNvPr id="13" name="Shape 11"/>
          <p:cNvSpPr/>
          <p:nvPr/>
        </p:nvSpPr>
        <p:spPr>
          <a:xfrm>
            <a:off x="8293608" y="1600200"/>
            <a:ext cx="0" cy="3337560"/>
          </a:xfrm>
          <a:prstGeom prst="line">
            <a:avLst/>
          </a:prstGeom>
          <a:noFill/>
          <a:ln w="8890">
            <a:solidFill>
              <a:srgbClr val="334155">
                <a:alpha val="90000"/>
              </a:srgbClr>
            </a:solidFill>
            <a:prstDash val="solid"/>
          </a:ln>
        </p:spPr>
        <p:txBody>
          <a:bodyPr/>
          <a:lstStyle/>
          <a:p>
            <a:endParaRPr lang="en-US"/>
          </a:p>
        </p:txBody>
      </p:sp>
      <p:sp>
        <p:nvSpPr>
          <p:cNvPr id="14" name="Shape 12"/>
          <p:cNvSpPr/>
          <p:nvPr/>
        </p:nvSpPr>
        <p:spPr>
          <a:xfrm>
            <a:off x="9134856" y="1600200"/>
            <a:ext cx="0" cy="3337560"/>
          </a:xfrm>
          <a:prstGeom prst="line">
            <a:avLst/>
          </a:prstGeom>
          <a:noFill/>
          <a:ln w="8890">
            <a:solidFill>
              <a:srgbClr val="334155">
                <a:alpha val="90000"/>
              </a:srgbClr>
            </a:solidFill>
            <a:prstDash val="solid"/>
          </a:ln>
        </p:spPr>
        <p:txBody>
          <a:bodyPr/>
          <a:lstStyle/>
          <a:p>
            <a:endParaRPr lang="en-US"/>
          </a:p>
        </p:txBody>
      </p:sp>
      <p:sp>
        <p:nvSpPr>
          <p:cNvPr id="15" name="Shape 13"/>
          <p:cNvSpPr/>
          <p:nvPr/>
        </p:nvSpPr>
        <p:spPr>
          <a:xfrm>
            <a:off x="9976104" y="1600200"/>
            <a:ext cx="0" cy="3337560"/>
          </a:xfrm>
          <a:prstGeom prst="line">
            <a:avLst/>
          </a:prstGeom>
          <a:noFill/>
          <a:ln w="8890">
            <a:solidFill>
              <a:srgbClr val="334155">
                <a:alpha val="90000"/>
              </a:srgbClr>
            </a:solidFill>
            <a:prstDash val="solid"/>
          </a:ln>
        </p:spPr>
        <p:txBody>
          <a:bodyPr/>
          <a:lstStyle/>
          <a:p>
            <a:endParaRPr lang="en-US"/>
          </a:p>
        </p:txBody>
      </p:sp>
      <p:sp>
        <p:nvSpPr>
          <p:cNvPr id="16" name="Shape 14"/>
          <p:cNvSpPr/>
          <p:nvPr/>
        </p:nvSpPr>
        <p:spPr>
          <a:xfrm>
            <a:off x="7269480" y="1783080"/>
            <a:ext cx="3611880" cy="0"/>
          </a:xfrm>
          <a:prstGeom prst="line">
            <a:avLst/>
          </a:prstGeom>
          <a:noFill/>
          <a:ln w="8890">
            <a:solidFill>
              <a:srgbClr val="334155">
                <a:alpha val="92000"/>
              </a:srgbClr>
            </a:solidFill>
            <a:prstDash val="solid"/>
          </a:ln>
        </p:spPr>
        <p:txBody>
          <a:bodyPr/>
          <a:lstStyle/>
          <a:p>
            <a:endParaRPr lang="en-US"/>
          </a:p>
        </p:txBody>
      </p:sp>
      <p:sp>
        <p:nvSpPr>
          <p:cNvPr id="17" name="Shape 15"/>
          <p:cNvSpPr/>
          <p:nvPr/>
        </p:nvSpPr>
        <p:spPr>
          <a:xfrm>
            <a:off x="7269480" y="2441448"/>
            <a:ext cx="3611880" cy="0"/>
          </a:xfrm>
          <a:prstGeom prst="line">
            <a:avLst/>
          </a:prstGeom>
          <a:noFill/>
          <a:ln w="8890">
            <a:solidFill>
              <a:srgbClr val="334155">
                <a:alpha val="92000"/>
              </a:srgbClr>
            </a:solidFill>
            <a:prstDash val="solid"/>
          </a:ln>
        </p:spPr>
        <p:txBody>
          <a:bodyPr/>
          <a:lstStyle/>
          <a:p>
            <a:endParaRPr lang="en-US"/>
          </a:p>
        </p:txBody>
      </p:sp>
      <p:sp>
        <p:nvSpPr>
          <p:cNvPr id="18" name="Shape 16"/>
          <p:cNvSpPr/>
          <p:nvPr/>
        </p:nvSpPr>
        <p:spPr>
          <a:xfrm>
            <a:off x="7269480" y="3099816"/>
            <a:ext cx="3611880" cy="0"/>
          </a:xfrm>
          <a:prstGeom prst="line">
            <a:avLst/>
          </a:prstGeom>
          <a:noFill/>
          <a:ln w="8890">
            <a:solidFill>
              <a:srgbClr val="334155">
                <a:alpha val="92000"/>
              </a:srgbClr>
            </a:solidFill>
            <a:prstDash val="solid"/>
          </a:ln>
        </p:spPr>
        <p:txBody>
          <a:bodyPr/>
          <a:lstStyle/>
          <a:p>
            <a:endParaRPr lang="en-US"/>
          </a:p>
        </p:txBody>
      </p:sp>
      <p:sp>
        <p:nvSpPr>
          <p:cNvPr id="19" name="Shape 17"/>
          <p:cNvSpPr/>
          <p:nvPr/>
        </p:nvSpPr>
        <p:spPr>
          <a:xfrm>
            <a:off x="7269480" y="3758184"/>
            <a:ext cx="3611880" cy="0"/>
          </a:xfrm>
          <a:prstGeom prst="line">
            <a:avLst/>
          </a:prstGeom>
          <a:noFill/>
          <a:ln w="8890">
            <a:solidFill>
              <a:srgbClr val="334155">
                <a:alpha val="92000"/>
              </a:srgbClr>
            </a:solidFill>
            <a:prstDash val="solid"/>
          </a:ln>
        </p:spPr>
        <p:txBody>
          <a:bodyPr/>
          <a:lstStyle/>
          <a:p>
            <a:endParaRPr lang="en-US"/>
          </a:p>
        </p:txBody>
      </p:sp>
      <p:sp>
        <p:nvSpPr>
          <p:cNvPr id="20" name="Shape 18"/>
          <p:cNvSpPr/>
          <p:nvPr/>
        </p:nvSpPr>
        <p:spPr>
          <a:xfrm>
            <a:off x="7269480" y="4416552"/>
            <a:ext cx="3611880" cy="0"/>
          </a:xfrm>
          <a:prstGeom prst="line">
            <a:avLst/>
          </a:prstGeom>
          <a:noFill/>
          <a:ln w="8890">
            <a:solidFill>
              <a:srgbClr val="334155">
                <a:alpha val="92000"/>
              </a:srgbClr>
            </a:solidFill>
            <a:prstDash val="solid"/>
          </a:ln>
        </p:spPr>
        <p:txBody>
          <a:bodyPr/>
          <a:lstStyle/>
          <a:p>
            <a:endParaRPr lang="en-US"/>
          </a:p>
        </p:txBody>
      </p:sp>
      <p:sp>
        <p:nvSpPr>
          <p:cNvPr id="21" name="Text 19"/>
          <p:cNvSpPr/>
          <p:nvPr/>
        </p:nvSpPr>
        <p:spPr>
          <a:xfrm>
            <a:off x="7360920" y="1828800"/>
            <a:ext cx="1097280" cy="292608"/>
          </a:xfrm>
          <a:prstGeom prst="roundRect">
            <a:avLst/>
          </a:prstGeom>
          <a:solidFill>
            <a:srgbClr val="3B82F6"/>
          </a:solidFill>
          <a:ln w="15875">
            <a:solidFill>
              <a:srgbClr val="3B82F6"/>
            </a:solidFill>
          </a:ln>
        </p:spPr>
        <p:txBody>
          <a:bodyPr wrap="square" lIns="635" tIns="635" rIns="635" bIns="635" rtlCol="0" anchor="ctr">
            <a:normAutofit/>
          </a:bodyPr>
          <a:lstStyle/>
          <a:p>
            <a:pPr marL="0" indent="0" algn="ctr">
              <a:buNone/>
            </a:pPr>
            <a:endParaRPr lang="en-US" sz="1400" dirty="0"/>
          </a:p>
        </p:txBody>
      </p:sp>
      <p:sp>
        <p:nvSpPr>
          <p:cNvPr id="22" name="Text 20"/>
          <p:cNvSpPr/>
          <p:nvPr/>
        </p:nvSpPr>
        <p:spPr>
          <a:xfrm>
            <a:off x="8412480" y="2542032"/>
            <a:ext cx="1508760" cy="292608"/>
          </a:xfrm>
          <a:prstGeom prst="roundRect">
            <a:avLst/>
          </a:prstGeom>
          <a:solidFill>
            <a:srgbClr val="8B5CF6"/>
          </a:solidFill>
          <a:ln w="15875">
            <a:solidFill>
              <a:srgbClr val="8B5CF6"/>
            </a:solidFill>
          </a:ln>
        </p:spPr>
        <p:txBody>
          <a:bodyPr wrap="square" lIns="635" tIns="635" rIns="635" bIns="635" rtlCol="0" anchor="ctr">
            <a:normAutofit/>
          </a:bodyPr>
          <a:lstStyle/>
          <a:p>
            <a:pPr marL="0" indent="0" algn="ctr">
              <a:buNone/>
            </a:pPr>
            <a:endParaRPr lang="en-US" sz="1400" dirty="0"/>
          </a:p>
        </p:txBody>
      </p:sp>
      <p:sp>
        <p:nvSpPr>
          <p:cNvPr id="23" name="Text 21"/>
          <p:cNvSpPr/>
          <p:nvPr/>
        </p:nvSpPr>
        <p:spPr>
          <a:xfrm>
            <a:off x="7818120" y="3246120"/>
            <a:ext cx="1170432" cy="292608"/>
          </a:xfrm>
          <a:prstGeom prst="roundRect">
            <a:avLst/>
          </a:prstGeom>
          <a:solidFill>
            <a:srgbClr val="34D399"/>
          </a:solidFill>
          <a:ln w="15875">
            <a:solidFill>
              <a:srgbClr val="34D399"/>
            </a:solidFill>
          </a:ln>
        </p:spPr>
        <p:txBody>
          <a:bodyPr wrap="square" lIns="635" tIns="635" rIns="635" bIns="635" rtlCol="0" anchor="ctr">
            <a:normAutofit/>
          </a:bodyPr>
          <a:lstStyle/>
          <a:p>
            <a:pPr marL="0" indent="0" algn="ctr">
              <a:buNone/>
            </a:pPr>
            <a:endParaRPr lang="en-US" sz="1400" dirty="0"/>
          </a:p>
        </p:txBody>
      </p:sp>
      <p:sp>
        <p:nvSpPr>
          <p:cNvPr id="24" name="Text 22"/>
          <p:cNvSpPr/>
          <p:nvPr/>
        </p:nvSpPr>
        <p:spPr>
          <a:xfrm>
            <a:off x="9189720" y="3959352"/>
            <a:ext cx="1207008" cy="292608"/>
          </a:xfrm>
          <a:prstGeom prst="roundRect">
            <a:avLst/>
          </a:prstGeom>
          <a:solidFill>
            <a:srgbClr val="22D3EE"/>
          </a:solidFill>
          <a:ln w="15875">
            <a:solidFill>
              <a:srgbClr val="22D3EE"/>
            </a:solidFill>
          </a:ln>
        </p:spPr>
        <p:txBody>
          <a:bodyPr wrap="square" lIns="635" tIns="635" rIns="635" bIns="635" rtlCol="0" anchor="ctr">
            <a:normAutofit/>
          </a:bodyPr>
          <a:lstStyle/>
          <a:p>
            <a:pPr marL="0" indent="0" algn="ctr">
              <a:buNone/>
            </a:pPr>
            <a:endParaRPr lang="en-US" sz="1400" dirty="0"/>
          </a:p>
        </p:txBody>
      </p:sp>
      <p:sp>
        <p:nvSpPr>
          <p:cNvPr id="25" name="Text 23"/>
          <p:cNvSpPr/>
          <p:nvPr/>
        </p:nvSpPr>
        <p:spPr>
          <a:xfrm>
            <a:off x="7726680" y="5010912"/>
            <a:ext cx="2487168" cy="420624"/>
          </a:xfrm>
          <a:prstGeom prst="roundRect">
            <a:avLst/>
          </a:prstGeom>
          <a:solidFill>
            <a:srgbClr val="22D3EE"/>
          </a:solidFill>
          <a:ln w="12700">
            <a:solidFill>
              <a:srgbClr val="22D3EE"/>
            </a:solidFill>
          </a:ln>
        </p:spPr>
        <p:txBody>
          <a:bodyPr wrap="square" lIns="381" tIns="381" rIns="381" bIns="381" rtlCol="0" anchor="ctr">
            <a:normAutofit/>
          </a:bodyPr>
          <a:lstStyle/>
          <a:p>
            <a:pPr marL="0" indent="0" algn="ctr">
              <a:buNone/>
            </a:pPr>
            <a:r>
              <a:rPr lang="en-US" sz="1150" b="1" dirty="0">
                <a:solidFill>
                  <a:srgbClr val="020617"/>
                </a:solidFill>
                <a:latin typeface="Aptos" pitchFamily="34" charset="0"/>
                <a:ea typeface="Aptos" pitchFamily="34" charset="-122"/>
                <a:cs typeface="Aptos" pitchFamily="34" charset="-120"/>
              </a:rPr>
              <a:t>Plage commune trouvée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txBody>
          <a:bodyPr/>
          <a:lstStyle/>
          <a:p>
            <a:endParaRPr lang="en-US"/>
          </a:p>
        </p:txBody>
      </p:sp>
      <p:sp>
        <p:nvSpPr>
          <p:cNvPr id="3" name="Shape 1"/>
          <p:cNvSpPr/>
          <p:nvPr/>
        </p:nvSpPr>
        <p:spPr>
          <a:xfrm>
            <a:off x="11247120" y="347472"/>
            <a:ext cx="438912"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4" name="Shape 2"/>
          <p:cNvSpPr/>
          <p:nvPr/>
        </p:nvSpPr>
        <p:spPr>
          <a:xfrm>
            <a:off x="11411712" y="566928"/>
            <a:ext cx="512064" cy="18288"/>
          </a:xfrm>
          <a:prstGeom prst="rect">
            <a:avLst/>
          </a:prstGeom>
          <a:solidFill>
            <a:srgbClr val="8B5CF6">
              <a:alpha val="95000"/>
            </a:srgbClr>
          </a:solidFill>
          <a:ln w="12700">
            <a:solidFill>
              <a:srgbClr val="333333">
                <a:alpha val="0"/>
              </a:srgbClr>
            </a:solidFill>
            <a:prstDash val="solid"/>
          </a:ln>
        </p:spPr>
        <p:txBody>
          <a:bodyPr/>
          <a:lstStyle/>
          <a:p>
            <a:endParaRPr lang="en-US"/>
          </a:p>
        </p:txBody>
      </p:sp>
      <p:sp>
        <p:nvSpPr>
          <p:cNvPr id="5" name="Shape 3"/>
          <p:cNvSpPr/>
          <p:nvPr/>
        </p:nvSpPr>
        <p:spPr>
          <a:xfrm>
            <a:off x="11100816" y="786384"/>
            <a:ext cx="402336"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6" name="Text 4"/>
          <p:cNvSpPr/>
          <p:nvPr/>
        </p:nvSpPr>
        <p:spPr>
          <a:xfrm>
            <a:off x="566928" y="402336"/>
            <a:ext cx="4389120" cy="256032"/>
          </a:xfrm>
          <a:prstGeom prst="rect">
            <a:avLst/>
          </a:prstGeom>
          <a:noFill/>
          <a:ln/>
        </p:spPr>
        <p:txBody>
          <a:bodyPr wrap="square" lIns="0" tIns="0" rIns="0" bIns="0" rtlCol="0" anchor="ctr"/>
          <a:lstStyle/>
          <a:p>
            <a:pPr marL="0" indent="0">
              <a:buNone/>
            </a:pPr>
            <a:r>
              <a:rPr lang="en-US" sz="1150" b="1" dirty="0">
                <a:solidFill>
                  <a:srgbClr val="22D3EE"/>
                </a:solidFill>
                <a:latin typeface="Aptos" pitchFamily="34" charset="0"/>
                <a:ea typeface="Aptos" pitchFamily="34" charset="-122"/>
                <a:cs typeface="Aptos" pitchFamily="34" charset="-120"/>
              </a:rPr>
              <a:t>1 · PRÉSENTATION DES MEMBRES</a:t>
            </a:r>
            <a:endParaRPr lang="en-US" sz="1150" dirty="0"/>
          </a:p>
        </p:txBody>
      </p:sp>
      <p:sp>
        <p:nvSpPr>
          <p:cNvPr id="7" name="Text 5"/>
          <p:cNvSpPr/>
          <p:nvPr/>
        </p:nvSpPr>
        <p:spPr>
          <a:xfrm>
            <a:off x="548640" y="786384"/>
            <a:ext cx="6217920" cy="548640"/>
          </a:xfrm>
          <a:prstGeom prst="rect">
            <a:avLst/>
          </a:prstGeom>
          <a:noFill/>
          <a:ln/>
        </p:spPr>
        <p:txBody>
          <a:bodyPr wrap="square" lIns="254" tIns="254" rIns="254" bIns="254" rtlCol="0" anchor="ctr">
            <a:normAutofit/>
          </a:bodyPr>
          <a:lstStyle/>
          <a:p>
            <a:pPr marL="0" indent="0">
              <a:buNone/>
            </a:pPr>
            <a:r>
              <a:rPr lang="en-US" sz="2900" b="1" dirty="0">
                <a:solidFill>
                  <a:srgbClr val="F8FAFC"/>
                </a:solidFill>
                <a:latin typeface="Aptos Display" pitchFamily="34" charset="0"/>
                <a:ea typeface="Aptos Display" pitchFamily="34" charset="-122"/>
                <a:cs typeface="Aptos Display" pitchFamily="34" charset="-120"/>
              </a:rPr>
              <a:t>Équipe et responsabilités</a:t>
            </a:r>
            <a:endParaRPr lang="en-US" sz="2900" dirty="0"/>
          </a:p>
        </p:txBody>
      </p:sp>
      <p:sp>
        <p:nvSpPr>
          <p:cNvPr id="8" name="Text 6"/>
          <p:cNvSpPr/>
          <p:nvPr/>
        </p:nvSpPr>
        <p:spPr>
          <a:xfrm>
            <a:off x="594360" y="1481328"/>
            <a:ext cx="6583680" cy="384048"/>
          </a:xfrm>
          <a:prstGeom prst="rect">
            <a:avLst/>
          </a:prstGeom>
          <a:noFill/>
          <a:ln/>
        </p:spPr>
        <p:txBody>
          <a:bodyPr wrap="square" lIns="508" tIns="508" rIns="508" bIns="508" rtlCol="0" anchor="t">
            <a:normAutofit/>
          </a:bodyPr>
          <a:lstStyle/>
          <a:p>
            <a:pPr marL="0" indent="0" algn="l">
              <a:lnSpc>
                <a:spcPct val="92000"/>
              </a:lnSpc>
              <a:buNone/>
            </a:pPr>
            <a:r>
              <a:rPr lang="en-US" sz="1800" dirty="0">
                <a:solidFill>
                  <a:srgbClr val="CBD5E1"/>
                </a:solidFill>
                <a:latin typeface="Aptos" pitchFamily="34" charset="0"/>
                <a:ea typeface="Aptos" pitchFamily="34" charset="-122"/>
                <a:cs typeface="Aptos" pitchFamily="34" charset="-120"/>
              </a:rPr>
              <a:t>Une équipe divisée entre backend, frontend, documentation et validation.</a:t>
            </a:r>
            <a:endParaRPr lang="en-US" sz="1800" dirty="0"/>
          </a:p>
        </p:txBody>
      </p:sp>
      <p:sp>
        <p:nvSpPr>
          <p:cNvPr id="9" name="Shape 7"/>
          <p:cNvSpPr/>
          <p:nvPr/>
        </p:nvSpPr>
        <p:spPr>
          <a:xfrm>
            <a:off x="1097280" y="3383280"/>
            <a:ext cx="9875520" cy="0"/>
          </a:xfrm>
          <a:prstGeom prst="line">
            <a:avLst/>
          </a:prstGeom>
          <a:noFill/>
          <a:ln w="13970">
            <a:solidFill>
              <a:srgbClr val="334155"/>
            </a:solidFill>
            <a:prstDash val="solid"/>
          </a:ln>
        </p:spPr>
        <p:txBody>
          <a:bodyPr/>
          <a:lstStyle/>
          <a:p>
            <a:endParaRPr lang="en-US"/>
          </a:p>
        </p:txBody>
      </p:sp>
      <p:sp>
        <p:nvSpPr>
          <p:cNvPr id="10" name="Shape 8"/>
          <p:cNvSpPr/>
          <p:nvPr/>
        </p:nvSpPr>
        <p:spPr>
          <a:xfrm>
            <a:off x="1664208" y="2926080"/>
            <a:ext cx="0" cy="914400"/>
          </a:xfrm>
          <a:prstGeom prst="line">
            <a:avLst/>
          </a:prstGeom>
          <a:noFill/>
          <a:ln w="15240">
            <a:solidFill>
              <a:srgbClr val="22D3EE"/>
            </a:solidFill>
            <a:prstDash val="solid"/>
          </a:ln>
        </p:spPr>
        <p:txBody>
          <a:bodyPr/>
          <a:lstStyle/>
          <a:p>
            <a:endParaRPr lang="en-US"/>
          </a:p>
        </p:txBody>
      </p:sp>
      <p:sp>
        <p:nvSpPr>
          <p:cNvPr id="11" name="Text 9"/>
          <p:cNvSpPr/>
          <p:nvPr/>
        </p:nvSpPr>
        <p:spPr>
          <a:xfrm>
            <a:off x="914400" y="2240280"/>
            <a:ext cx="1508760" cy="530352"/>
          </a:xfrm>
          <a:prstGeom prst="roundRect">
            <a:avLst/>
          </a:prstGeom>
          <a:solidFill>
            <a:srgbClr val="22D3EE"/>
          </a:solidFill>
          <a:ln w="15875">
            <a:solidFill>
              <a:srgbClr val="22D3EE"/>
            </a:solidFill>
          </a:ln>
        </p:spPr>
        <p:txBody>
          <a:bodyPr wrap="square" lIns="635" tIns="635" rIns="635" bIns="635" rtlCol="0" anchor="ctr">
            <a:normAutofit/>
          </a:bodyPr>
          <a:lstStyle/>
          <a:p>
            <a:pPr marL="0" indent="0" algn="ctr">
              <a:buNone/>
            </a:pPr>
            <a:r>
              <a:rPr lang="en-US" sz="1700" b="1" dirty="0">
                <a:solidFill>
                  <a:srgbClr val="020617"/>
                </a:solidFill>
                <a:latin typeface="Aptos" pitchFamily="34" charset="0"/>
                <a:ea typeface="Aptos" pitchFamily="34" charset="-122"/>
                <a:cs typeface="Aptos" pitchFamily="34" charset="-120"/>
              </a:rPr>
              <a:t>Saad</a:t>
            </a:r>
            <a:endParaRPr lang="en-US" sz="1700" dirty="0"/>
          </a:p>
        </p:txBody>
      </p:sp>
      <p:sp>
        <p:nvSpPr>
          <p:cNvPr id="12" name="Text 10"/>
          <p:cNvSpPr/>
          <p:nvPr/>
        </p:nvSpPr>
        <p:spPr>
          <a:xfrm>
            <a:off x="777240" y="4041648"/>
            <a:ext cx="1783080" cy="731520"/>
          </a:xfrm>
          <a:prstGeom prst="rect">
            <a:avLst/>
          </a:prstGeom>
          <a:noFill/>
          <a:ln/>
        </p:spPr>
        <p:txBody>
          <a:bodyPr wrap="square" lIns="508" tIns="508" rIns="508" bIns="508" rtlCol="0" anchor="t">
            <a:normAutofit/>
          </a:bodyPr>
          <a:lstStyle/>
          <a:p>
            <a:pPr marL="0" indent="0" algn="ctr">
              <a:lnSpc>
                <a:spcPct val="92000"/>
              </a:lnSpc>
              <a:buNone/>
            </a:pPr>
            <a:r>
              <a:rPr lang="en-US" sz="1550" dirty="0">
                <a:solidFill>
                  <a:srgbClr val="CBD5E1"/>
                </a:solidFill>
                <a:latin typeface="Aptos" pitchFamily="34" charset="0"/>
                <a:ea typeface="Aptos" pitchFamily="34" charset="-122"/>
                <a:cs typeface="Aptos" pitchFamily="34" charset="-120"/>
              </a:rPr>
              <a:t>Backend · API · Cloud</a:t>
            </a:r>
            <a:endParaRPr lang="en-US" sz="1550" dirty="0"/>
          </a:p>
        </p:txBody>
      </p:sp>
      <p:sp>
        <p:nvSpPr>
          <p:cNvPr id="13" name="Shape 11"/>
          <p:cNvSpPr/>
          <p:nvPr/>
        </p:nvSpPr>
        <p:spPr>
          <a:xfrm>
            <a:off x="4453128" y="2926080"/>
            <a:ext cx="0" cy="914400"/>
          </a:xfrm>
          <a:prstGeom prst="line">
            <a:avLst/>
          </a:prstGeom>
          <a:noFill/>
          <a:ln w="15240">
            <a:solidFill>
              <a:srgbClr val="34D399"/>
            </a:solidFill>
            <a:prstDash val="solid"/>
          </a:ln>
        </p:spPr>
        <p:txBody>
          <a:bodyPr/>
          <a:lstStyle/>
          <a:p>
            <a:endParaRPr lang="en-US"/>
          </a:p>
        </p:txBody>
      </p:sp>
      <p:sp>
        <p:nvSpPr>
          <p:cNvPr id="14" name="Text 12"/>
          <p:cNvSpPr/>
          <p:nvPr/>
        </p:nvSpPr>
        <p:spPr>
          <a:xfrm>
            <a:off x="3703320" y="2240280"/>
            <a:ext cx="1508760" cy="530352"/>
          </a:xfrm>
          <a:prstGeom prst="roundRect">
            <a:avLst/>
          </a:prstGeom>
          <a:solidFill>
            <a:srgbClr val="34D399"/>
          </a:solidFill>
          <a:ln w="15875">
            <a:solidFill>
              <a:srgbClr val="34D399"/>
            </a:solidFill>
          </a:ln>
        </p:spPr>
        <p:txBody>
          <a:bodyPr wrap="square" lIns="635" tIns="635" rIns="635" bIns="635" rtlCol="0" anchor="ctr">
            <a:normAutofit/>
          </a:bodyPr>
          <a:lstStyle/>
          <a:p>
            <a:pPr marL="0" indent="0" algn="ctr">
              <a:buNone/>
            </a:pPr>
            <a:r>
              <a:rPr lang="en-US" sz="1700" b="1" dirty="0">
                <a:solidFill>
                  <a:srgbClr val="020617"/>
                </a:solidFill>
                <a:latin typeface="Aptos" pitchFamily="34" charset="0"/>
                <a:ea typeface="Aptos" pitchFamily="34" charset="-122"/>
                <a:cs typeface="Aptos" pitchFamily="34" charset="-120"/>
              </a:rPr>
              <a:t>Marat</a:t>
            </a:r>
            <a:endParaRPr lang="en-US" sz="1700" dirty="0"/>
          </a:p>
        </p:txBody>
      </p:sp>
      <p:sp>
        <p:nvSpPr>
          <p:cNvPr id="15" name="Text 13"/>
          <p:cNvSpPr/>
          <p:nvPr/>
        </p:nvSpPr>
        <p:spPr>
          <a:xfrm>
            <a:off x="3566160" y="4041648"/>
            <a:ext cx="1783080" cy="731520"/>
          </a:xfrm>
          <a:prstGeom prst="rect">
            <a:avLst/>
          </a:prstGeom>
          <a:noFill/>
          <a:ln/>
        </p:spPr>
        <p:txBody>
          <a:bodyPr wrap="square" lIns="508" tIns="508" rIns="508" bIns="508" rtlCol="0" anchor="t">
            <a:normAutofit/>
          </a:bodyPr>
          <a:lstStyle/>
          <a:p>
            <a:pPr marL="0" indent="0" algn="ctr">
              <a:lnSpc>
                <a:spcPct val="92000"/>
              </a:lnSpc>
              <a:buNone/>
            </a:pPr>
            <a:r>
              <a:rPr lang="en-US" sz="1550" dirty="0">
                <a:solidFill>
                  <a:srgbClr val="CBD5E1"/>
                </a:solidFill>
                <a:latin typeface="Aptos" pitchFamily="34" charset="0"/>
                <a:ea typeface="Aptos" pitchFamily="34" charset="-122"/>
                <a:cs typeface="Aptos" pitchFamily="34" charset="-120"/>
              </a:rPr>
              <a:t>Backend · Postman</a:t>
            </a:r>
            <a:endParaRPr lang="en-US" sz="1550" dirty="0"/>
          </a:p>
        </p:txBody>
      </p:sp>
      <p:sp>
        <p:nvSpPr>
          <p:cNvPr id="16" name="Shape 14"/>
          <p:cNvSpPr/>
          <p:nvPr/>
        </p:nvSpPr>
        <p:spPr>
          <a:xfrm>
            <a:off x="7242048" y="2926080"/>
            <a:ext cx="0" cy="914400"/>
          </a:xfrm>
          <a:prstGeom prst="line">
            <a:avLst/>
          </a:prstGeom>
          <a:noFill/>
          <a:ln w="15240">
            <a:solidFill>
              <a:srgbClr val="3B82F6"/>
            </a:solidFill>
            <a:prstDash val="solid"/>
          </a:ln>
        </p:spPr>
        <p:txBody>
          <a:bodyPr/>
          <a:lstStyle/>
          <a:p>
            <a:endParaRPr lang="en-US"/>
          </a:p>
        </p:txBody>
      </p:sp>
      <p:sp>
        <p:nvSpPr>
          <p:cNvPr id="17" name="Text 15"/>
          <p:cNvSpPr/>
          <p:nvPr/>
        </p:nvSpPr>
        <p:spPr>
          <a:xfrm>
            <a:off x="6492240" y="2240280"/>
            <a:ext cx="1508760" cy="530352"/>
          </a:xfrm>
          <a:prstGeom prst="roundRect">
            <a:avLst/>
          </a:prstGeom>
          <a:solidFill>
            <a:srgbClr val="3B82F6"/>
          </a:solidFill>
          <a:ln w="15875">
            <a:solidFill>
              <a:srgbClr val="3B82F6"/>
            </a:solidFill>
          </a:ln>
        </p:spPr>
        <p:txBody>
          <a:bodyPr wrap="square" lIns="635" tIns="635" rIns="635" bIns="635" rtlCol="0" anchor="ctr">
            <a:normAutofit/>
          </a:bodyPr>
          <a:lstStyle/>
          <a:p>
            <a:pPr marL="0" indent="0" algn="ctr">
              <a:buNone/>
            </a:pPr>
            <a:r>
              <a:rPr lang="en-US" sz="1700" b="1" dirty="0">
                <a:solidFill>
                  <a:srgbClr val="020617"/>
                </a:solidFill>
                <a:latin typeface="Aptos" pitchFamily="34" charset="0"/>
                <a:ea typeface="Aptos" pitchFamily="34" charset="-122"/>
                <a:cs typeface="Aptos" pitchFamily="34" charset="-120"/>
              </a:rPr>
              <a:t>Charbel</a:t>
            </a:r>
            <a:endParaRPr lang="en-US" sz="1700" dirty="0"/>
          </a:p>
        </p:txBody>
      </p:sp>
      <p:sp>
        <p:nvSpPr>
          <p:cNvPr id="18" name="Text 16"/>
          <p:cNvSpPr/>
          <p:nvPr/>
        </p:nvSpPr>
        <p:spPr>
          <a:xfrm>
            <a:off x="6355080" y="4041648"/>
            <a:ext cx="1783080" cy="731520"/>
          </a:xfrm>
          <a:prstGeom prst="rect">
            <a:avLst/>
          </a:prstGeom>
          <a:noFill/>
          <a:ln/>
        </p:spPr>
        <p:txBody>
          <a:bodyPr wrap="square" lIns="508" tIns="508" rIns="508" bIns="508" rtlCol="0" anchor="t">
            <a:normAutofit/>
          </a:bodyPr>
          <a:lstStyle/>
          <a:p>
            <a:pPr marL="0" indent="0" algn="ctr">
              <a:lnSpc>
                <a:spcPct val="92000"/>
              </a:lnSpc>
              <a:buNone/>
            </a:pPr>
            <a:r>
              <a:rPr lang="en-US" sz="1550" dirty="0">
                <a:solidFill>
                  <a:srgbClr val="CBD5E1"/>
                </a:solidFill>
                <a:latin typeface="Aptos" pitchFamily="34" charset="0"/>
                <a:ea typeface="Aptos" pitchFamily="34" charset="-122"/>
                <a:cs typeface="Aptos" pitchFamily="34" charset="-120"/>
              </a:rPr>
              <a:t>Frontend · Design · Liaison</a:t>
            </a:r>
            <a:endParaRPr lang="en-US" sz="1550" dirty="0"/>
          </a:p>
        </p:txBody>
      </p:sp>
      <p:sp>
        <p:nvSpPr>
          <p:cNvPr id="19" name="Shape 17"/>
          <p:cNvSpPr/>
          <p:nvPr/>
        </p:nvSpPr>
        <p:spPr>
          <a:xfrm>
            <a:off x="10030968" y="2926080"/>
            <a:ext cx="0" cy="914400"/>
          </a:xfrm>
          <a:prstGeom prst="line">
            <a:avLst/>
          </a:prstGeom>
          <a:noFill/>
          <a:ln w="15240">
            <a:solidFill>
              <a:srgbClr val="8B5CF6"/>
            </a:solidFill>
            <a:prstDash val="solid"/>
          </a:ln>
        </p:spPr>
        <p:txBody>
          <a:bodyPr/>
          <a:lstStyle/>
          <a:p>
            <a:endParaRPr lang="en-US"/>
          </a:p>
        </p:txBody>
      </p:sp>
      <p:sp>
        <p:nvSpPr>
          <p:cNvPr id="20" name="Text 18"/>
          <p:cNvSpPr/>
          <p:nvPr/>
        </p:nvSpPr>
        <p:spPr>
          <a:xfrm>
            <a:off x="9281160" y="2240280"/>
            <a:ext cx="1508760" cy="530352"/>
          </a:xfrm>
          <a:prstGeom prst="roundRect">
            <a:avLst/>
          </a:prstGeom>
          <a:solidFill>
            <a:srgbClr val="8B5CF6"/>
          </a:solidFill>
          <a:ln w="15875">
            <a:solidFill>
              <a:srgbClr val="8B5CF6"/>
            </a:solidFill>
          </a:ln>
        </p:spPr>
        <p:txBody>
          <a:bodyPr wrap="square" lIns="635" tIns="635" rIns="635" bIns="635" rtlCol="0" anchor="ctr">
            <a:normAutofit/>
          </a:bodyPr>
          <a:lstStyle/>
          <a:p>
            <a:pPr marL="0" indent="0" algn="ctr">
              <a:buNone/>
            </a:pPr>
            <a:r>
              <a:rPr lang="en-US" sz="1700" b="1" dirty="0">
                <a:solidFill>
                  <a:srgbClr val="020617"/>
                </a:solidFill>
                <a:latin typeface="Aptos" pitchFamily="34" charset="0"/>
                <a:ea typeface="Aptos" pitchFamily="34" charset="-122"/>
                <a:cs typeface="Aptos" pitchFamily="34" charset="-120"/>
              </a:rPr>
              <a:t>Alexis</a:t>
            </a:r>
            <a:endParaRPr lang="en-US" sz="1700" dirty="0"/>
          </a:p>
        </p:txBody>
      </p:sp>
      <p:sp>
        <p:nvSpPr>
          <p:cNvPr id="21" name="Text 19"/>
          <p:cNvSpPr/>
          <p:nvPr/>
        </p:nvSpPr>
        <p:spPr>
          <a:xfrm>
            <a:off x="9144000" y="4041648"/>
            <a:ext cx="1783080" cy="731520"/>
          </a:xfrm>
          <a:prstGeom prst="rect">
            <a:avLst/>
          </a:prstGeom>
          <a:noFill/>
          <a:ln/>
        </p:spPr>
        <p:txBody>
          <a:bodyPr wrap="square" lIns="508" tIns="508" rIns="508" bIns="508" rtlCol="0" anchor="t">
            <a:normAutofit/>
          </a:bodyPr>
          <a:lstStyle/>
          <a:p>
            <a:pPr marL="0" indent="0" algn="ctr">
              <a:lnSpc>
                <a:spcPct val="92000"/>
              </a:lnSpc>
              <a:buNone/>
            </a:pPr>
            <a:r>
              <a:rPr lang="en-US" sz="1550" dirty="0">
                <a:solidFill>
                  <a:srgbClr val="CBD5E1"/>
                </a:solidFill>
                <a:latin typeface="Aptos" pitchFamily="34" charset="0"/>
                <a:ea typeface="Aptos" pitchFamily="34" charset="-122"/>
                <a:cs typeface="Aptos" pitchFamily="34" charset="-120"/>
              </a:rPr>
              <a:t>Documentation · UML · Tests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txBody>
          <a:bodyPr/>
          <a:lstStyle/>
          <a:p>
            <a:endParaRPr lang="en-US"/>
          </a:p>
        </p:txBody>
      </p:sp>
      <p:sp>
        <p:nvSpPr>
          <p:cNvPr id="3" name="Shape 1"/>
          <p:cNvSpPr/>
          <p:nvPr/>
        </p:nvSpPr>
        <p:spPr>
          <a:xfrm>
            <a:off x="11247120" y="347472"/>
            <a:ext cx="438912"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4" name="Shape 2"/>
          <p:cNvSpPr/>
          <p:nvPr/>
        </p:nvSpPr>
        <p:spPr>
          <a:xfrm>
            <a:off x="11411712" y="566928"/>
            <a:ext cx="512064" cy="18288"/>
          </a:xfrm>
          <a:prstGeom prst="rect">
            <a:avLst/>
          </a:prstGeom>
          <a:solidFill>
            <a:srgbClr val="8B5CF6">
              <a:alpha val="95000"/>
            </a:srgbClr>
          </a:solidFill>
          <a:ln w="12700">
            <a:solidFill>
              <a:srgbClr val="333333">
                <a:alpha val="0"/>
              </a:srgbClr>
            </a:solidFill>
            <a:prstDash val="solid"/>
          </a:ln>
        </p:spPr>
        <p:txBody>
          <a:bodyPr/>
          <a:lstStyle/>
          <a:p>
            <a:endParaRPr lang="en-US"/>
          </a:p>
        </p:txBody>
      </p:sp>
      <p:sp>
        <p:nvSpPr>
          <p:cNvPr id="5" name="Shape 3"/>
          <p:cNvSpPr/>
          <p:nvPr/>
        </p:nvSpPr>
        <p:spPr>
          <a:xfrm>
            <a:off x="11100816" y="786384"/>
            <a:ext cx="402336"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6" name="Text 4"/>
          <p:cNvSpPr/>
          <p:nvPr/>
        </p:nvSpPr>
        <p:spPr>
          <a:xfrm>
            <a:off x="566928" y="402336"/>
            <a:ext cx="4389120" cy="256032"/>
          </a:xfrm>
          <a:prstGeom prst="rect">
            <a:avLst/>
          </a:prstGeom>
          <a:noFill/>
          <a:ln/>
        </p:spPr>
        <p:txBody>
          <a:bodyPr wrap="square" lIns="0" tIns="0" rIns="0" bIns="0" rtlCol="0" anchor="ctr"/>
          <a:lstStyle/>
          <a:p>
            <a:pPr marL="0" indent="0">
              <a:buNone/>
            </a:pPr>
            <a:r>
              <a:rPr lang="en-US" sz="1150" b="1" dirty="0">
                <a:solidFill>
                  <a:srgbClr val="22D3EE"/>
                </a:solidFill>
                <a:latin typeface="Aptos" pitchFamily="34" charset="0"/>
                <a:ea typeface="Aptos" pitchFamily="34" charset="-122"/>
                <a:cs typeface="Aptos" pitchFamily="34" charset="-120"/>
              </a:rPr>
              <a:t>2 · GRANDES LIGNES DU PROJET</a:t>
            </a:r>
            <a:endParaRPr lang="en-US" sz="1150" dirty="0"/>
          </a:p>
        </p:txBody>
      </p:sp>
      <p:sp>
        <p:nvSpPr>
          <p:cNvPr id="7" name="Text 5"/>
          <p:cNvSpPr/>
          <p:nvPr/>
        </p:nvSpPr>
        <p:spPr>
          <a:xfrm>
            <a:off x="548640" y="786384"/>
            <a:ext cx="6217920" cy="548640"/>
          </a:xfrm>
          <a:prstGeom prst="rect">
            <a:avLst/>
          </a:prstGeom>
          <a:noFill/>
          <a:ln/>
        </p:spPr>
        <p:txBody>
          <a:bodyPr wrap="square" lIns="254" tIns="254" rIns="254" bIns="254" rtlCol="0" anchor="ctr">
            <a:normAutofit/>
          </a:bodyPr>
          <a:lstStyle/>
          <a:p>
            <a:pPr marL="0" indent="0">
              <a:buNone/>
            </a:pPr>
            <a:r>
              <a:rPr lang="en-US" sz="2900" b="1" dirty="0">
                <a:solidFill>
                  <a:srgbClr val="F8FAFC"/>
                </a:solidFill>
                <a:latin typeface="Aptos Display" pitchFamily="34" charset="0"/>
                <a:ea typeface="Aptos Display" pitchFamily="34" charset="-122"/>
                <a:cs typeface="Aptos Display" pitchFamily="34" charset="-120"/>
              </a:rPr>
              <a:t>Le problème que LinkUp règle</a:t>
            </a:r>
            <a:endParaRPr lang="en-US" sz="2900" dirty="0"/>
          </a:p>
        </p:txBody>
      </p:sp>
      <p:sp>
        <p:nvSpPr>
          <p:cNvPr id="8" name="Text 6"/>
          <p:cNvSpPr/>
          <p:nvPr/>
        </p:nvSpPr>
        <p:spPr>
          <a:xfrm>
            <a:off x="685800" y="1600200"/>
            <a:ext cx="4572000" cy="310896"/>
          </a:xfrm>
          <a:prstGeom prst="rect">
            <a:avLst/>
          </a:prstGeom>
          <a:noFill/>
          <a:ln/>
        </p:spPr>
        <p:txBody>
          <a:bodyPr wrap="square" lIns="254" tIns="254" rIns="254" bIns="254" rtlCol="0" anchor="ctr">
            <a:normAutofit/>
          </a:bodyPr>
          <a:lstStyle/>
          <a:p>
            <a:pPr marL="0" indent="0">
              <a:buNone/>
            </a:pPr>
            <a:r>
              <a:rPr lang="en-US" sz="1400" b="1" dirty="0">
                <a:solidFill>
                  <a:srgbClr val="F59E0B"/>
                </a:solidFill>
                <a:latin typeface="Aptos" pitchFamily="34" charset="0"/>
                <a:ea typeface="Aptos" pitchFamily="34" charset="-122"/>
                <a:cs typeface="Aptos" pitchFamily="34" charset="-120"/>
              </a:rPr>
              <a:t>Constat</a:t>
            </a:r>
            <a:endParaRPr lang="en-US" sz="1400" dirty="0"/>
          </a:p>
        </p:txBody>
      </p:sp>
      <p:sp>
        <p:nvSpPr>
          <p:cNvPr id="9" name="Text 7"/>
          <p:cNvSpPr/>
          <p:nvPr/>
        </p:nvSpPr>
        <p:spPr>
          <a:xfrm>
            <a:off x="685800" y="1984248"/>
            <a:ext cx="4572000" cy="987552"/>
          </a:xfrm>
          <a:prstGeom prst="rect">
            <a:avLst/>
          </a:prstGeom>
          <a:noFill/>
          <a:ln/>
        </p:spPr>
        <p:txBody>
          <a:bodyPr wrap="square" lIns="254" tIns="254" rIns="254" bIns="254" rtlCol="0" anchor="ctr">
            <a:normAutofit/>
          </a:bodyPr>
          <a:lstStyle/>
          <a:p>
            <a:pPr marL="0" indent="0">
              <a:lnSpc>
                <a:spcPct val="90000"/>
              </a:lnSpc>
              <a:buNone/>
            </a:pPr>
            <a:r>
              <a:rPr lang="en-US" sz="1800" dirty="0">
                <a:solidFill>
                  <a:srgbClr val="F8FAFC"/>
                </a:solidFill>
                <a:latin typeface="Aptos" pitchFamily="34" charset="0"/>
                <a:ea typeface="Aptos" pitchFamily="34" charset="-122"/>
                <a:cs typeface="Aptos" pitchFamily="34" charset="-120"/>
              </a:rPr>
              <a:t>Au cégep, les horaires sont rarement identiques. Organiser une rencontre devient vite lourd.</a:t>
            </a:r>
            <a:endParaRPr lang="en-US" sz="1800" dirty="0"/>
          </a:p>
        </p:txBody>
      </p:sp>
      <p:sp>
        <p:nvSpPr>
          <p:cNvPr id="10" name="Text 8"/>
          <p:cNvSpPr/>
          <p:nvPr/>
        </p:nvSpPr>
        <p:spPr>
          <a:xfrm>
            <a:off x="6492240" y="1600200"/>
            <a:ext cx="4572000" cy="310896"/>
          </a:xfrm>
          <a:prstGeom prst="rect">
            <a:avLst/>
          </a:prstGeom>
          <a:noFill/>
          <a:ln/>
        </p:spPr>
        <p:txBody>
          <a:bodyPr wrap="square" lIns="254" tIns="254" rIns="254" bIns="254" rtlCol="0" anchor="ctr">
            <a:normAutofit/>
          </a:bodyPr>
          <a:lstStyle/>
          <a:p>
            <a:pPr marL="0" indent="0">
              <a:buNone/>
            </a:pPr>
            <a:r>
              <a:rPr lang="en-US" sz="1400" b="1" dirty="0">
                <a:solidFill>
                  <a:srgbClr val="22D3EE"/>
                </a:solidFill>
                <a:latin typeface="Aptos" pitchFamily="34" charset="0"/>
                <a:ea typeface="Aptos" pitchFamily="34" charset="-122"/>
                <a:cs typeface="Aptos" pitchFamily="34" charset="-120"/>
              </a:rPr>
              <a:t>Solution LinkUp</a:t>
            </a:r>
            <a:endParaRPr lang="en-US" sz="1400" dirty="0"/>
          </a:p>
        </p:txBody>
      </p:sp>
      <p:sp>
        <p:nvSpPr>
          <p:cNvPr id="11" name="Text 9"/>
          <p:cNvSpPr/>
          <p:nvPr/>
        </p:nvSpPr>
        <p:spPr>
          <a:xfrm>
            <a:off x="6492240" y="1984248"/>
            <a:ext cx="4572000" cy="987552"/>
          </a:xfrm>
          <a:prstGeom prst="rect">
            <a:avLst/>
          </a:prstGeom>
          <a:noFill/>
          <a:ln/>
        </p:spPr>
        <p:txBody>
          <a:bodyPr wrap="square" lIns="254" tIns="254" rIns="254" bIns="254" rtlCol="0" anchor="ctr">
            <a:normAutofit/>
          </a:bodyPr>
          <a:lstStyle/>
          <a:p>
            <a:pPr marL="0" indent="0">
              <a:lnSpc>
                <a:spcPct val="90000"/>
              </a:lnSpc>
              <a:buNone/>
            </a:pPr>
            <a:r>
              <a:rPr lang="en-US" sz="1800" dirty="0">
                <a:solidFill>
                  <a:srgbClr val="F8FAFC"/>
                </a:solidFill>
                <a:latin typeface="Aptos" pitchFamily="34" charset="0"/>
                <a:ea typeface="Aptos" pitchFamily="34" charset="-122"/>
                <a:cs typeface="Aptos" pitchFamily="34" charset="-120"/>
              </a:rPr>
              <a:t>Créer un compte, remplir son horaire, rejoindre un groupe et comparer les disponibilités.</a:t>
            </a:r>
            <a:endParaRPr lang="en-US" sz="1800" dirty="0"/>
          </a:p>
        </p:txBody>
      </p:sp>
      <p:sp>
        <p:nvSpPr>
          <p:cNvPr id="12" name="Shape 10"/>
          <p:cNvSpPr/>
          <p:nvPr/>
        </p:nvSpPr>
        <p:spPr>
          <a:xfrm>
            <a:off x="5440680" y="2331720"/>
            <a:ext cx="850392" cy="0"/>
          </a:xfrm>
          <a:prstGeom prst="line">
            <a:avLst/>
          </a:prstGeom>
          <a:noFill/>
          <a:ln w="15240">
            <a:solidFill>
              <a:srgbClr val="22D3EE"/>
            </a:solidFill>
            <a:prstDash val="solid"/>
            <a:headEnd type="none"/>
            <a:tailEnd type="triangle"/>
          </a:ln>
        </p:spPr>
        <p:txBody>
          <a:bodyPr/>
          <a:lstStyle/>
          <a:p>
            <a:endParaRPr lang="en-US"/>
          </a:p>
        </p:txBody>
      </p:sp>
      <p:sp>
        <p:nvSpPr>
          <p:cNvPr id="13" name="Shape 11"/>
          <p:cNvSpPr/>
          <p:nvPr/>
        </p:nvSpPr>
        <p:spPr>
          <a:xfrm>
            <a:off x="914400" y="4133088"/>
            <a:ext cx="4160520" cy="0"/>
          </a:xfrm>
          <a:prstGeom prst="line">
            <a:avLst/>
          </a:prstGeom>
          <a:noFill/>
          <a:ln w="12700">
            <a:solidFill>
              <a:srgbClr val="334155"/>
            </a:solidFill>
            <a:prstDash val="solid"/>
          </a:ln>
        </p:spPr>
        <p:txBody>
          <a:bodyPr/>
          <a:lstStyle/>
          <a:p>
            <a:endParaRPr lang="en-US"/>
          </a:p>
        </p:txBody>
      </p:sp>
      <p:sp>
        <p:nvSpPr>
          <p:cNvPr id="14" name="Shape 12"/>
          <p:cNvSpPr/>
          <p:nvPr/>
        </p:nvSpPr>
        <p:spPr>
          <a:xfrm>
            <a:off x="6720840" y="4133088"/>
            <a:ext cx="4160520" cy="0"/>
          </a:xfrm>
          <a:prstGeom prst="line">
            <a:avLst/>
          </a:prstGeom>
          <a:noFill/>
          <a:ln w="12700">
            <a:solidFill>
              <a:srgbClr val="334155"/>
            </a:solidFill>
            <a:prstDash val="solid"/>
          </a:ln>
        </p:spPr>
        <p:txBody>
          <a:bodyPr/>
          <a:lstStyle/>
          <a:p>
            <a:endParaRPr lang="en-US"/>
          </a:p>
        </p:txBody>
      </p:sp>
      <p:sp>
        <p:nvSpPr>
          <p:cNvPr id="15" name="Text 13"/>
          <p:cNvSpPr/>
          <p:nvPr/>
        </p:nvSpPr>
        <p:spPr>
          <a:xfrm>
            <a:off x="1005840" y="3840480"/>
            <a:ext cx="914400" cy="201168"/>
          </a:xfrm>
          <a:prstGeom prst="roundRect">
            <a:avLst/>
          </a:prstGeom>
          <a:solidFill>
            <a:srgbClr val="F59E0B"/>
          </a:solidFill>
          <a:ln w="15875">
            <a:solidFill>
              <a:srgbClr val="F59E0B"/>
            </a:solidFill>
          </a:ln>
        </p:spPr>
        <p:txBody>
          <a:bodyPr wrap="square" lIns="635" tIns="635" rIns="635" bIns="635" rtlCol="0" anchor="ctr">
            <a:normAutofit/>
          </a:bodyPr>
          <a:lstStyle/>
          <a:p>
            <a:pPr marL="0" indent="0" algn="ctr">
              <a:buNone/>
            </a:pPr>
            <a:endParaRPr lang="en-US" sz="1400" dirty="0"/>
          </a:p>
        </p:txBody>
      </p:sp>
      <p:sp>
        <p:nvSpPr>
          <p:cNvPr id="16" name="Text 14"/>
          <p:cNvSpPr/>
          <p:nvPr/>
        </p:nvSpPr>
        <p:spPr>
          <a:xfrm>
            <a:off x="2286000" y="4315968"/>
            <a:ext cx="914400" cy="201168"/>
          </a:xfrm>
          <a:prstGeom prst="roundRect">
            <a:avLst/>
          </a:prstGeom>
          <a:solidFill>
            <a:srgbClr val="F87171"/>
          </a:solidFill>
          <a:ln w="15875">
            <a:solidFill>
              <a:srgbClr val="F87171"/>
            </a:solidFill>
          </a:ln>
        </p:spPr>
        <p:txBody>
          <a:bodyPr wrap="square" lIns="635" tIns="635" rIns="635" bIns="635" rtlCol="0" anchor="ctr">
            <a:normAutofit/>
          </a:bodyPr>
          <a:lstStyle/>
          <a:p>
            <a:pPr marL="0" indent="0" algn="ctr">
              <a:buNone/>
            </a:pPr>
            <a:endParaRPr lang="en-US" sz="1400" dirty="0"/>
          </a:p>
        </p:txBody>
      </p:sp>
      <p:sp>
        <p:nvSpPr>
          <p:cNvPr id="17" name="Text 15"/>
          <p:cNvSpPr/>
          <p:nvPr/>
        </p:nvSpPr>
        <p:spPr>
          <a:xfrm>
            <a:off x="3566160" y="3840480"/>
            <a:ext cx="914400" cy="201168"/>
          </a:xfrm>
          <a:prstGeom prst="roundRect">
            <a:avLst/>
          </a:prstGeom>
          <a:solidFill>
            <a:srgbClr val="8B5CF6"/>
          </a:solidFill>
          <a:ln w="15875">
            <a:solidFill>
              <a:srgbClr val="8B5CF6"/>
            </a:solidFill>
          </a:ln>
        </p:spPr>
        <p:txBody>
          <a:bodyPr wrap="square" lIns="635" tIns="635" rIns="635" bIns="635" rtlCol="0" anchor="ctr">
            <a:normAutofit/>
          </a:bodyPr>
          <a:lstStyle/>
          <a:p>
            <a:pPr marL="0" indent="0" algn="ctr">
              <a:buNone/>
            </a:pPr>
            <a:endParaRPr lang="en-US" sz="1400" dirty="0"/>
          </a:p>
        </p:txBody>
      </p:sp>
      <p:sp>
        <p:nvSpPr>
          <p:cNvPr id="18" name="Text 16"/>
          <p:cNvSpPr/>
          <p:nvPr/>
        </p:nvSpPr>
        <p:spPr>
          <a:xfrm>
            <a:off x="7680960" y="3886200"/>
            <a:ext cx="2057400" cy="502920"/>
          </a:xfrm>
          <a:prstGeom prst="roundRect">
            <a:avLst/>
          </a:prstGeom>
          <a:solidFill>
            <a:srgbClr val="22D3EE"/>
          </a:solidFill>
          <a:ln w="15875">
            <a:solidFill>
              <a:srgbClr val="22D3EE"/>
            </a:solidFill>
          </a:ln>
        </p:spPr>
        <p:txBody>
          <a:bodyPr wrap="square" lIns="635" tIns="635" rIns="635" bIns="635" rtlCol="0" anchor="ctr">
            <a:normAutofit/>
          </a:bodyPr>
          <a:lstStyle/>
          <a:p>
            <a:pPr marL="0" indent="0" algn="ctr">
              <a:buNone/>
            </a:pPr>
            <a:r>
              <a:rPr lang="en-US" sz="1500" b="1" dirty="0">
                <a:solidFill>
                  <a:srgbClr val="020617"/>
                </a:solidFill>
                <a:latin typeface="Aptos" pitchFamily="34" charset="0"/>
                <a:ea typeface="Aptos" pitchFamily="34" charset="-122"/>
                <a:cs typeface="Aptos" pitchFamily="34" charset="-120"/>
              </a:rPr>
              <a:t>Moment commun</a:t>
            </a:r>
            <a:endParaRPr lang="en-US" sz="1500" dirty="0"/>
          </a:p>
        </p:txBody>
      </p:sp>
      <p:sp>
        <p:nvSpPr>
          <p:cNvPr id="19" name="Text 17"/>
          <p:cNvSpPr/>
          <p:nvPr/>
        </p:nvSpPr>
        <p:spPr>
          <a:xfrm>
            <a:off x="960120" y="4892040"/>
            <a:ext cx="3566160" cy="329184"/>
          </a:xfrm>
          <a:prstGeom prst="rect">
            <a:avLst/>
          </a:prstGeom>
          <a:noFill/>
          <a:ln/>
        </p:spPr>
        <p:txBody>
          <a:bodyPr wrap="square" lIns="508" tIns="508" rIns="508" bIns="508" rtlCol="0" anchor="t">
            <a:normAutofit/>
          </a:bodyPr>
          <a:lstStyle/>
          <a:p>
            <a:pPr marL="0" indent="0" algn="ctr">
              <a:lnSpc>
                <a:spcPct val="92000"/>
              </a:lnSpc>
              <a:buNone/>
            </a:pPr>
            <a:r>
              <a:rPr lang="en-US" sz="1500" dirty="0">
                <a:solidFill>
                  <a:srgbClr val="94A3B8"/>
                </a:solidFill>
                <a:latin typeface="Aptos" pitchFamily="34" charset="0"/>
                <a:ea typeface="Aptos" pitchFamily="34" charset="-122"/>
                <a:cs typeface="Aptos" pitchFamily="34" charset="-120"/>
              </a:rPr>
              <a:t>Avant : chacun cherche manuellement</a:t>
            </a:r>
            <a:endParaRPr lang="en-US" sz="1500" dirty="0"/>
          </a:p>
        </p:txBody>
      </p:sp>
      <p:sp>
        <p:nvSpPr>
          <p:cNvPr id="20" name="Text 18"/>
          <p:cNvSpPr/>
          <p:nvPr/>
        </p:nvSpPr>
        <p:spPr>
          <a:xfrm>
            <a:off x="7360920" y="4892040"/>
            <a:ext cx="2834640" cy="329184"/>
          </a:xfrm>
          <a:prstGeom prst="rect">
            <a:avLst/>
          </a:prstGeom>
          <a:noFill/>
          <a:ln/>
        </p:spPr>
        <p:txBody>
          <a:bodyPr wrap="square" lIns="508" tIns="508" rIns="508" bIns="508" rtlCol="0" anchor="t">
            <a:normAutofit/>
          </a:bodyPr>
          <a:lstStyle/>
          <a:p>
            <a:pPr marL="0" indent="0" algn="ctr">
              <a:lnSpc>
                <a:spcPct val="92000"/>
              </a:lnSpc>
              <a:buNone/>
            </a:pPr>
            <a:r>
              <a:rPr lang="en-US" sz="1500" dirty="0">
                <a:solidFill>
                  <a:srgbClr val="94A3B8"/>
                </a:solidFill>
                <a:latin typeface="Aptos" pitchFamily="34" charset="0"/>
                <a:ea typeface="Aptos" pitchFamily="34" charset="-122"/>
                <a:cs typeface="Aptos" pitchFamily="34" charset="-120"/>
              </a:rPr>
              <a:t>Après : le système compare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txBody>
          <a:bodyPr/>
          <a:lstStyle/>
          <a:p>
            <a:endParaRPr lang="en-US"/>
          </a:p>
        </p:txBody>
      </p:sp>
      <p:sp>
        <p:nvSpPr>
          <p:cNvPr id="3" name="Shape 1"/>
          <p:cNvSpPr/>
          <p:nvPr/>
        </p:nvSpPr>
        <p:spPr>
          <a:xfrm>
            <a:off x="11247120" y="347472"/>
            <a:ext cx="438912"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4" name="Shape 2"/>
          <p:cNvSpPr/>
          <p:nvPr/>
        </p:nvSpPr>
        <p:spPr>
          <a:xfrm>
            <a:off x="11411712" y="566928"/>
            <a:ext cx="512064" cy="18288"/>
          </a:xfrm>
          <a:prstGeom prst="rect">
            <a:avLst/>
          </a:prstGeom>
          <a:solidFill>
            <a:srgbClr val="8B5CF6">
              <a:alpha val="95000"/>
            </a:srgbClr>
          </a:solidFill>
          <a:ln w="12700">
            <a:solidFill>
              <a:srgbClr val="333333">
                <a:alpha val="0"/>
              </a:srgbClr>
            </a:solidFill>
            <a:prstDash val="solid"/>
          </a:ln>
        </p:spPr>
        <p:txBody>
          <a:bodyPr/>
          <a:lstStyle/>
          <a:p>
            <a:endParaRPr lang="en-US"/>
          </a:p>
        </p:txBody>
      </p:sp>
      <p:sp>
        <p:nvSpPr>
          <p:cNvPr id="5" name="Shape 3"/>
          <p:cNvSpPr/>
          <p:nvPr/>
        </p:nvSpPr>
        <p:spPr>
          <a:xfrm>
            <a:off x="11100816" y="786384"/>
            <a:ext cx="402336"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6" name="Text 4"/>
          <p:cNvSpPr/>
          <p:nvPr/>
        </p:nvSpPr>
        <p:spPr>
          <a:xfrm>
            <a:off x="566928" y="402336"/>
            <a:ext cx="4389120" cy="256032"/>
          </a:xfrm>
          <a:prstGeom prst="rect">
            <a:avLst/>
          </a:prstGeom>
          <a:noFill/>
          <a:ln/>
        </p:spPr>
        <p:txBody>
          <a:bodyPr wrap="square" lIns="0" tIns="0" rIns="0" bIns="0" rtlCol="0" anchor="ctr"/>
          <a:lstStyle/>
          <a:p>
            <a:pPr marL="0" indent="0">
              <a:buNone/>
            </a:pPr>
            <a:r>
              <a:rPr lang="en-US" sz="1150" b="1" dirty="0">
                <a:solidFill>
                  <a:srgbClr val="22D3EE"/>
                </a:solidFill>
                <a:latin typeface="Aptos" pitchFamily="34" charset="0"/>
                <a:ea typeface="Aptos" pitchFamily="34" charset="-122"/>
                <a:cs typeface="Aptos" pitchFamily="34" charset="-120"/>
              </a:rPr>
              <a:t>3 · DÉMO EN TEMPS RÉEL</a:t>
            </a:r>
            <a:endParaRPr lang="en-US" sz="1150" dirty="0"/>
          </a:p>
        </p:txBody>
      </p:sp>
      <p:sp>
        <p:nvSpPr>
          <p:cNvPr id="7" name="Text 5"/>
          <p:cNvSpPr/>
          <p:nvPr/>
        </p:nvSpPr>
        <p:spPr>
          <a:xfrm>
            <a:off x="548640" y="786384"/>
            <a:ext cx="6217920" cy="548640"/>
          </a:xfrm>
          <a:prstGeom prst="rect">
            <a:avLst/>
          </a:prstGeom>
          <a:noFill/>
          <a:ln/>
        </p:spPr>
        <p:txBody>
          <a:bodyPr wrap="square" lIns="254" tIns="254" rIns="254" bIns="254" rtlCol="0" anchor="ctr">
            <a:normAutofit/>
          </a:bodyPr>
          <a:lstStyle/>
          <a:p>
            <a:pPr marL="0" indent="0">
              <a:buNone/>
            </a:pPr>
            <a:r>
              <a:rPr lang="en-US" sz="2900" b="1" dirty="0">
                <a:solidFill>
                  <a:srgbClr val="F8FAFC"/>
                </a:solidFill>
                <a:latin typeface="Aptos Display" pitchFamily="34" charset="0"/>
                <a:ea typeface="Aptos Display" pitchFamily="34" charset="-122"/>
                <a:cs typeface="Aptos Display" pitchFamily="34" charset="-120"/>
              </a:rPr>
              <a:t>Parcours utilisateur à démontrer</a:t>
            </a:r>
            <a:endParaRPr lang="en-US" sz="2900" dirty="0"/>
          </a:p>
        </p:txBody>
      </p:sp>
      <p:sp>
        <p:nvSpPr>
          <p:cNvPr id="8" name="Text 6"/>
          <p:cNvSpPr/>
          <p:nvPr/>
        </p:nvSpPr>
        <p:spPr>
          <a:xfrm>
            <a:off x="594360" y="1444752"/>
            <a:ext cx="7680960" cy="347472"/>
          </a:xfrm>
          <a:prstGeom prst="rect">
            <a:avLst/>
          </a:prstGeom>
          <a:noFill/>
          <a:ln/>
        </p:spPr>
        <p:txBody>
          <a:bodyPr wrap="square" lIns="508" tIns="508" rIns="508" bIns="508" rtlCol="0" anchor="t">
            <a:normAutofit/>
          </a:bodyPr>
          <a:lstStyle/>
          <a:p>
            <a:pPr marL="0" indent="0" algn="l">
              <a:lnSpc>
                <a:spcPct val="92000"/>
              </a:lnSpc>
              <a:buNone/>
            </a:pPr>
            <a:r>
              <a:rPr lang="en-US" sz="1800" dirty="0">
                <a:solidFill>
                  <a:srgbClr val="CBD5E1"/>
                </a:solidFill>
                <a:latin typeface="Aptos" pitchFamily="34" charset="0"/>
                <a:ea typeface="Aptos" pitchFamily="34" charset="-122"/>
                <a:cs typeface="Aptos" pitchFamily="34" charset="-120"/>
              </a:rPr>
              <a:t>La présentation peut suivre ce chemin pendant la démonstration du site.</a:t>
            </a:r>
            <a:endParaRPr lang="en-US" sz="1800" dirty="0"/>
          </a:p>
        </p:txBody>
      </p:sp>
      <p:sp>
        <p:nvSpPr>
          <p:cNvPr id="9" name="Text 7"/>
          <p:cNvSpPr/>
          <p:nvPr/>
        </p:nvSpPr>
        <p:spPr>
          <a:xfrm>
            <a:off x="685800" y="2423160"/>
            <a:ext cx="1591056" cy="585216"/>
          </a:xfrm>
          <a:prstGeom prst="roundRect">
            <a:avLst/>
          </a:prstGeom>
          <a:solidFill>
            <a:srgbClr val="3B82F6"/>
          </a:solidFill>
          <a:ln w="15875">
            <a:solidFill>
              <a:srgbClr val="3B82F6"/>
            </a:solidFill>
          </a:ln>
        </p:spPr>
        <p:txBody>
          <a:bodyPr wrap="square" lIns="635" tIns="635" rIns="635" bIns="635" rtlCol="0" anchor="ctr">
            <a:normAutofit/>
          </a:bodyPr>
          <a:lstStyle/>
          <a:p>
            <a:pPr marL="0" indent="0" algn="ctr">
              <a:buNone/>
            </a:pPr>
            <a:r>
              <a:rPr lang="en-US" sz="1550" b="1" dirty="0">
                <a:solidFill>
                  <a:srgbClr val="020617"/>
                </a:solidFill>
                <a:latin typeface="Aptos" pitchFamily="34" charset="0"/>
                <a:ea typeface="Aptos" pitchFamily="34" charset="-122"/>
                <a:cs typeface="Aptos" pitchFamily="34" charset="-120"/>
              </a:rPr>
              <a:t>Compte</a:t>
            </a:r>
            <a:endParaRPr lang="en-US" sz="1550" dirty="0"/>
          </a:p>
        </p:txBody>
      </p:sp>
      <p:sp>
        <p:nvSpPr>
          <p:cNvPr id="10" name="Text 8"/>
          <p:cNvSpPr/>
          <p:nvPr/>
        </p:nvSpPr>
        <p:spPr>
          <a:xfrm>
            <a:off x="640080" y="3246120"/>
            <a:ext cx="1682496" cy="438912"/>
          </a:xfrm>
          <a:prstGeom prst="rect">
            <a:avLst/>
          </a:prstGeom>
          <a:noFill/>
          <a:ln/>
        </p:spPr>
        <p:txBody>
          <a:bodyPr wrap="square" lIns="508" tIns="508" rIns="508" bIns="508" rtlCol="0" anchor="t">
            <a:normAutofit/>
          </a:bodyPr>
          <a:lstStyle/>
          <a:p>
            <a:pPr marL="0" indent="0" algn="ctr">
              <a:lnSpc>
                <a:spcPct val="92000"/>
              </a:lnSpc>
              <a:buNone/>
            </a:pPr>
            <a:r>
              <a:rPr lang="en-US" sz="1350" dirty="0">
                <a:solidFill>
                  <a:srgbClr val="CBD5E1"/>
                </a:solidFill>
                <a:latin typeface="Aptos" pitchFamily="34" charset="0"/>
                <a:ea typeface="Aptos" pitchFamily="34" charset="-122"/>
                <a:cs typeface="Aptos" pitchFamily="34" charset="-120"/>
              </a:rPr>
              <a:t>créer / se connecter</a:t>
            </a:r>
            <a:endParaRPr lang="en-US" sz="1350" dirty="0"/>
          </a:p>
        </p:txBody>
      </p:sp>
      <p:sp>
        <p:nvSpPr>
          <p:cNvPr id="11" name="Shape 9"/>
          <p:cNvSpPr/>
          <p:nvPr/>
        </p:nvSpPr>
        <p:spPr>
          <a:xfrm>
            <a:off x="2468880" y="2880360"/>
            <a:ext cx="338328" cy="0"/>
          </a:xfrm>
          <a:prstGeom prst="line">
            <a:avLst/>
          </a:prstGeom>
          <a:noFill/>
          <a:ln w="15240">
            <a:solidFill>
              <a:srgbClr val="334155"/>
            </a:solidFill>
            <a:prstDash val="solid"/>
            <a:headEnd type="none"/>
            <a:tailEnd type="triangle"/>
          </a:ln>
        </p:spPr>
        <p:txBody>
          <a:bodyPr/>
          <a:lstStyle/>
          <a:p>
            <a:endParaRPr lang="en-US"/>
          </a:p>
        </p:txBody>
      </p:sp>
      <p:sp>
        <p:nvSpPr>
          <p:cNvPr id="12" name="Text 10"/>
          <p:cNvSpPr/>
          <p:nvPr/>
        </p:nvSpPr>
        <p:spPr>
          <a:xfrm>
            <a:off x="2898648" y="2423160"/>
            <a:ext cx="1591056" cy="585216"/>
          </a:xfrm>
          <a:prstGeom prst="roundRect">
            <a:avLst/>
          </a:prstGeom>
          <a:solidFill>
            <a:srgbClr val="34D399"/>
          </a:solidFill>
          <a:ln w="15875">
            <a:solidFill>
              <a:srgbClr val="34D399"/>
            </a:solidFill>
          </a:ln>
        </p:spPr>
        <p:txBody>
          <a:bodyPr wrap="square" lIns="635" tIns="635" rIns="635" bIns="635" rtlCol="0" anchor="ctr">
            <a:normAutofit/>
          </a:bodyPr>
          <a:lstStyle/>
          <a:p>
            <a:pPr marL="0" indent="0" algn="ctr">
              <a:buNone/>
            </a:pPr>
            <a:r>
              <a:rPr lang="en-US" sz="1550" b="1" dirty="0">
                <a:solidFill>
                  <a:srgbClr val="020617"/>
                </a:solidFill>
                <a:latin typeface="Aptos" pitchFamily="34" charset="0"/>
                <a:ea typeface="Aptos" pitchFamily="34" charset="-122"/>
                <a:cs typeface="Aptos" pitchFamily="34" charset="-120"/>
              </a:rPr>
              <a:t>Horaire</a:t>
            </a:r>
            <a:endParaRPr lang="en-US" sz="1550" dirty="0"/>
          </a:p>
        </p:txBody>
      </p:sp>
      <p:sp>
        <p:nvSpPr>
          <p:cNvPr id="13" name="Text 11"/>
          <p:cNvSpPr/>
          <p:nvPr/>
        </p:nvSpPr>
        <p:spPr>
          <a:xfrm>
            <a:off x="2852928" y="3246120"/>
            <a:ext cx="1682496" cy="438912"/>
          </a:xfrm>
          <a:prstGeom prst="rect">
            <a:avLst/>
          </a:prstGeom>
          <a:noFill/>
          <a:ln/>
        </p:spPr>
        <p:txBody>
          <a:bodyPr wrap="square" lIns="508" tIns="508" rIns="508" bIns="508" rtlCol="0" anchor="t">
            <a:normAutofit/>
          </a:bodyPr>
          <a:lstStyle/>
          <a:p>
            <a:pPr marL="0" indent="0" algn="ctr">
              <a:lnSpc>
                <a:spcPct val="92000"/>
              </a:lnSpc>
              <a:buNone/>
            </a:pPr>
            <a:r>
              <a:rPr lang="en-US" sz="1350" dirty="0">
                <a:solidFill>
                  <a:srgbClr val="CBD5E1"/>
                </a:solidFill>
                <a:latin typeface="Aptos" pitchFamily="34" charset="0"/>
                <a:ea typeface="Aptos" pitchFamily="34" charset="-122"/>
                <a:cs typeface="Aptos" pitchFamily="34" charset="-120"/>
              </a:rPr>
              <a:t>ajouter et modifier</a:t>
            </a:r>
            <a:endParaRPr lang="en-US" sz="1350" dirty="0"/>
          </a:p>
        </p:txBody>
      </p:sp>
      <p:sp>
        <p:nvSpPr>
          <p:cNvPr id="14" name="Shape 12"/>
          <p:cNvSpPr/>
          <p:nvPr/>
        </p:nvSpPr>
        <p:spPr>
          <a:xfrm>
            <a:off x="4681728" y="2880360"/>
            <a:ext cx="338328" cy="0"/>
          </a:xfrm>
          <a:prstGeom prst="line">
            <a:avLst/>
          </a:prstGeom>
          <a:noFill/>
          <a:ln w="15240">
            <a:solidFill>
              <a:srgbClr val="334155"/>
            </a:solidFill>
            <a:prstDash val="solid"/>
            <a:headEnd type="none"/>
            <a:tailEnd type="triangle"/>
          </a:ln>
        </p:spPr>
        <p:txBody>
          <a:bodyPr/>
          <a:lstStyle/>
          <a:p>
            <a:endParaRPr lang="en-US"/>
          </a:p>
        </p:txBody>
      </p:sp>
      <p:sp>
        <p:nvSpPr>
          <p:cNvPr id="15" name="Text 13"/>
          <p:cNvSpPr/>
          <p:nvPr/>
        </p:nvSpPr>
        <p:spPr>
          <a:xfrm>
            <a:off x="5111496" y="2423160"/>
            <a:ext cx="1591056" cy="585216"/>
          </a:xfrm>
          <a:prstGeom prst="roundRect">
            <a:avLst/>
          </a:prstGeom>
          <a:solidFill>
            <a:srgbClr val="8B5CF6"/>
          </a:solidFill>
          <a:ln w="15875">
            <a:solidFill>
              <a:srgbClr val="8B5CF6"/>
            </a:solidFill>
          </a:ln>
        </p:spPr>
        <p:txBody>
          <a:bodyPr wrap="square" lIns="635" tIns="635" rIns="635" bIns="635" rtlCol="0" anchor="ctr">
            <a:normAutofit/>
          </a:bodyPr>
          <a:lstStyle/>
          <a:p>
            <a:pPr marL="0" indent="0" algn="ctr">
              <a:buNone/>
            </a:pPr>
            <a:r>
              <a:rPr lang="en-US" sz="1550" b="1" dirty="0">
                <a:solidFill>
                  <a:srgbClr val="020617"/>
                </a:solidFill>
                <a:latin typeface="Aptos" pitchFamily="34" charset="0"/>
                <a:ea typeface="Aptos" pitchFamily="34" charset="-122"/>
                <a:cs typeface="Aptos" pitchFamily="34" charset="-120"/>
              </a:rPr>
              <a:t>Groupe</a:t>
            </a:r>
            <a:endParaRPr lang="en-US" sz="1550" dirty="0"/>
          </a:p>
        </p:txBody>
      </p:sp>
      <p:sp>
        <p:nvSpPr>
          <p:cNvPr id="16" name="Text 14"/>
          <p:cNvSpPr/>
          <p:nvPr/>
        </p:nvSpPr>
        <p:spPr>
          <a:xfrm>
            <a:off x="5065776" y="3246120"/>
            <a:ext cx="1682496" cy="438912"/>
          </a:xfrm>
          <a:prstGeom prst="rect">
            <a:avLst/>
          </a:prstGeom>
          <a:noFill/>
          <a:ln/>
        </p:spPr>
        <p:txBody>
          <a:bodyPr wrap="square" lIns="508" tIns="508" rIns="508" bIns="508" rtlCol="0" anchor="t">
            <a:normAutofit/>
          </a:bodyPr>
          <a:lstStyle/>
          <a:p>
            <a:pPr marL="0" indent="0" algn="ctr">
              <a:lnSpc>
                <a:spcPct val="92000"/>
              </a:lnSpc>
              <a:buNone/>
            </a:pPr>
            <a:r>
              <a:rPr lang="en-US" sz="1350" dirty="0">
                <a:solidFill>
                  <a:srgbClr val="CBD5E1"/>
                </a:solidFill>
                <a:latin typeface="Aptos" pitchFamily="34" charset="0"/>
                <a:ea typeface="Aptos" pitchFamily="34" charset="-122"/>
                <a:cs typeface="Aptos" pitchFamily="34" charset="-120"/>
              </a:rPr>
              <a:t>créer ou rejoindre</a:t>
            </a:r>
            <a:endParaRPr lang="en-US" sz="1350" dirty="0"/>
          </a:p>
        </p:txBody>
      </p:sp>
      <p:sp>
        <p:nvSpPr>
          <p:cNvPr id="17" name="Shape 15"/>
          <p:cNvSpPr/>
          <p:nvPr/>
        </p:nvSpPr>
        <p:spPr>
          <a:xfrm>
            <a:off x="6894576" y="2880360"/>
            <a:ext cx="338328" cy="0"/>
          </a:xfrm>
          <a:prstGeom prst="line">
            <a:avLst/>
          </a:prstGeom>
          <a:noFill/>
          <a:ln w="15240">
            <a:solidFill>
              <a:srgbClr val="334155"/>
            </a:solidFill>
            <a:prstDash val="solid"/>
            <a:headEnd type="none"/>
            <a:tailEnd type="triangle"/>
          </a:ln>
        </p:spPr>
        <p:txBody>
          <a:bodyPr/>
          <a:lstStyle/>
          <a:p>
            <a:endParaRPr lang="en-US"/>
          </a:p>
        </p:txBody>
      </p:sp>
      <p:sp>
        <p:nvSpPr>
          <p:cNvPr id="18" name="Text 16"/>
          <p:cNvSpPr/>
          <p:nvPr/>
        </p:nvSpPr>
        <p:spPr>
          <a:xfrm>
            <a:off x="7324344" y="2423160"/>
            <a:ext cx="1591056" cy="585216"/>
          </a:xfrm>
          <a:prstGeom prst="roundRect">
            <a:avLst/>
          </a:prstGeom>
          <a:solidFill>
            <a:srgbClr val="F59E0B"/>
          </a:solidFill>
          <a:ln w="15875">
            <a:solidFill>
              <a:srgbClr val="F59E0B"/>
            </a:solidFill>
          </a:ln>
        </p:spPr>
        <p:txBody>
          <a:bodyPr wrap="square" lIns="635" tIns="635" rIns="635" bIns="635" rtlCol="0" anchor="ctr">
            <a:normAutofit/>
          </a:bodyPr>
          <a:lstStyle/>
          <a:p>
            <a:pPr marL="0" indent="0" algn="ctr">
              <a:buNone/>
            </a:pPr>
            <a:r>
              <a:rPr lang="en-US" sz="1550" b="1" dirty="0">
                <a:solidFill>
                  <a:srgbClr val="020617"/>
                </a:solidFill>
                <a:latin typeface="Aptos" pitchFamily="34" charset="0"/>
                <a:ea typeface="Aptos" pitchFamily="34" charset="-122"/>
                <a:cs typeface="Aptos" pitchFamily="34" charset="-120"/>
              </a:rPr>
              <a:t>Demandes</a:t>
            </a:r>
            <a:endParaRPr lang="en-US" sz="1550" dirty="0"/>
          </a:p>
        </p:txBody>
      </p:sp>
      <p:sp>
        <p:nvSpPr>
          <p:cNvPr id="19" name="Text 17"/>
          <p:cNvSpPr/>
          <p:nvPr/>
        </p:nvSpPr>
        <p:spPr>
          <a:xfrm>
            <a:off x="7278624" y="3246120"/>
            <a:ext cx="1682496" cy="438912"/>
          </a:xfrm>
          <a:prstGeom prst="rect">
            <a:avLst/>
          </a:prstGeom>
          <a:noFill/>
          <a:ln/>
        </p:spPr>
        <p:txBody>
          <a:bodyPr wrap="square" lIns="508" tIns="508" rIns="508" bIns="508" rtlCol="0" anchor="t">
            <a:normAutofit/>
          </a:bodyPr>
          <a:lstStyle/>
          <a:p>
            <a:pPr marL="0" indent="0" algn="ctr">
              <a:lnSpc>
                <a:spcPct val="92000"/>
              </a:lnSpc>
              <a:buNone/>
            </a:pPr>
            <a:r>
              <a:rPr lang="en-US" sz="1350" dirty="0">
                <a:solidFill>
                  <a:srgbClr val="CBD5E1"/>
                </a:solidFill>
                <a:latin typeface="Aptos" pitchFamily="34" charset="0"/>
                <a:ea typeface="Aptos" pitchFamily="34" charset="-122"/>
                <a:cs typeface="Aptos" pitchFamily="34" charset="-120"/>
              </a:rPr>
              <a:t>inviter / accepter</a:t>
            </a:r>
            <a:endParaRPr lang="en-US" sz="1350" dirty="0"/>
          </a:p>
        </p:txBody>
      </p:sp>
      <p:sp>
        <p:nvSpPr>
          <p:cNvPr id="20" name="Shape 18"/>
          <p:cNvSpPr/>
          <p:nvPr/>
        </p:nvSpPr>
        <p:spPr>
          <a:xfrm>
            <a:off x="9107424" y="2880360"/>
            <a:ext cx="338328" cy="0"/>
          </a:xfrm>
          <a:prstGeom prst="line">
            <a:avLst/>
          </a:prstGeom>
          <a:noFill/>
          <a:ln w="15240">
            <a:solidFill>
              <a:srgbClr val="334155"/>
            </a:solidFill>
            <a:prstDash val="solid"/>
            <a:headEnd type="none"/>
            <a:tailEnd type="triangle"/>
          </a:ln>
        </p:spPr>
        <p:txBody>
          <a:bodyPr/>
          <a:lstStyle/>
          <a:p>
            <a:endParaRPr lang="en-US"/>
          </a:p>
        </p:txBody>
      </p:sp>
      <p:sp>
        <p:nvSpPr>
          <p:cNvPr id="21" name="Text 19"/>
          <p:cNvSpPr/>
          <p:nvPr/>
        </p:nvSpPr>
        <p:spPr>
          <a:xfrm>
            <a:off x="9537192" y="2423160"/>
            <a:ext cx="1591056" cy="585216"/>
          </a:xfrm>
          <a:prstGeom prst="roundRect">
            <a:avLst/>
          </a:prstGeom>
          <a:solidFill>
            <a:srgbClr val="22D3EE"/>
          </a:solidFill>
          <a:ln w="15875">
            <a:solidFill>
              <a:srgbClr val="22D3EE"/>
            </a:solidFill>
          </a:ln>
        </p:spPr>
        <p:txBody>
          <a:bodyPr wrap="square" lIns="635" tIns="635" rIns="635" bIns="635" rtlCol="0" anchor="ctr">
            <a:normAutofit/>
          </a:bodyPr>
          <a:lstStyle/>
          <a:p>
            <a:pPr marL="0" indent="0" algn="ctr">
              <a:buNone/>
            </a:pPr>
            <a:r>
              <a:rPr lang="en-US" sz="1550" b="1" dirty="0">
                <a:solidFill>
                  <a:srgbClr val="020617"/>
                </a:solidFill>
                <a:latin typeface="Aptos" pitchFamily="34" charset="0"/>
                <a:ea typeface="Aptos" pitchFamily="34" charset="-122"/>
                <a:cs typeface="Aptos" pitchFamily="34" charset="-120"/>
              </a:rPr>
              <a:t>Disponibilités</a:t>
            </a:r>
            <a:endParaRPr lang="en-US" sz="1550" dirty="0"/>
          </a:p>
        </p:txBody>
      </p:sp>
      <p:sp>
        <p:nvSpPr>
          <p:cNvPr id="22" name="Text 20"/>
          <p:cNvSpPr/>
          <p:nvPr/>
        </p:nvSpPr>
        <p:spPr>
          <a:xfrm>
            <a:off x="9491472" y="3246120"/>
            <a:ext cx="1682496" cy="438912"/>
          </a:xfrm>
          <a:prstGeom prst="rect">
            <a:avLst/>
          </a:prstGeom>
          <a:noFill/>
          <a:ln/>
        </p:spPr>
        <p:txBody>
          <a:bodyPr wrap="square" lIns="508" tIns="508" rIns="508" bIns="508" rtlCol="0" anchor="t">
            <a:normAutofit/>
          </a:bodyPr>
          <a:lstStyle/>
          <a:p>
            <a:pPr marL="0" indent="0" algn="ctr">
              <a:lnSpc>
                <a:spcPct val="92000"/>
              </a:lnSpc>
              <a:buNone/>
            </a:pPr>
            <a:r>
              <a:rPr lang="en-US" sz="1350" dirty="0">
                <a:solidFill>
                  <a:srgbClr val="CBD5E1"/>
                </a:solidFill>
                <a:latin typeface="Aptos" pitchFamily="34" charset="0"/>
                <a:ea typeface="Aptos" pitchFamily="34" charset="-122"/>
                <a:cs typeface="Aptos" pitchFamily="34" charset="-120"/>
              </a:rPr>
              <a:t>voir le temps libre</a:t>
            </a:r>
            <a:endParaRPr lang="en-US" sz="1350" dirty="0"/>
          </a:p>
        </p:txBody>
      </p:sp>
      <p:sp>
        <p:nvSpPr>
          <p:cNvPr id="23" name="Text 21"/>
          <p:cNvSpPr/>
          <p:nvPr/>
        </p:nvSpPr>
        <p:spPr>
          <a:xfrm>
            <a:off x="2542032" y="4846320"/>
            <a:ext cx="7178040" cy="475488"/>
          </a:xfrm>
          <a:prstGeom prst="roundRect">
            <a:avLst/>
          </a:prstGeom>
          <a:solidFill>
            <a:srgbClr val="111A2E"/>
          </a:solidFill>
          <a:ln w="12700">
            <a:solidFill>
              <a:srgbClr val="22D3EE"/>
            </a:solidFill>
          </a:ln>
        </p:spPr>
        <p:txBody>
          <a:bodyPr wrap="square" lIns="381" tIns="381" rIns="381" bIns="381" rtlCol="0" anchor="ctr">
            <a:normAutofit/>
          </a:bodyPr>
          <a:lstStyle/>
          <a:p>
            <a:pPr marL="0" indent="0" algn="ctr">
              <a:buNone/>
            </a:pPr>
            <a:r>
              <a:rPr lang="en-US" sz="1350" b="1" dirty="0">
                <a:solidFill>
                  <a:srgbClr val="F8FAFC"/>
                </a:solidFill>
                <a:latin typeface="Aptos" pitchFamily="34" charset="0"/>
                <a:ea typeface="Aptos" pitchFamily="34" charset="-122"/>
                <a:cs typeface="Aptos" pitchFamily="34" charset="-120"/>
              </a:rPr>
              <a:t>But de la démo : montrer les fonctionnalités sans perdre le fil conducteur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txBody>
          <a:bodyPr/>
          <a:lstStyle/>
          <a:p>
            <a:endParaRPr lang="en-US"/>
          </a:p>
        </p:txBody>
      </p:sp>
      <p:sp>
        <p:nvSpPr>
          <p:cNvPr id="3" name="Shape 1"/>
          <p:cNvSpPr/>
          <p:nvPr/>
        </p:nvSpPr>
        <p:spPr>
          <a:xfrm>
            <a:off x="11247120" y="347472"/>
            <a:ext cx="438912"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4" name="Shape 2"/>
          <p:cNvSpPr/>
          <p:nvPr/>
        </p:nvSpPr>
        <p:spPr>
          <a:xfrm>
            <a:off x="11411712" y="566928"/>
            <a:ext cx="512064" cy="18288"/>
          </a:xfrm>
          <a:prstGeom prst="rect">
            <a:avLst/>
          </a:prstGeom>
          <a:solidFill>
            <a:srgbClr val="8B5CF6">
              <a:alpha val="95000"/>
            </a:srgbClr>
          </a:solidFill>
          <a:ln w="12700">
            <a:solidFill>
              <a:srgbClr val="333333">
                <a:alpha val="0"/>
              </a:srgbClr>
            </a:solidFill>
            <a:prstDash val="solid"/>
          </a:ln>
        </p:spPr>
        <p:txBody>
          <a:bodyPr/>
          <a:lstStyle/>
          <a:p>
            <a:endParaRPr lang="en-US"/>
          </a:p>
        </p:txBody>
      </p:sp>
      <p:sp>
        <p:nvSpPr>
          <p:cNvPr id="5" name="Shape 3"/>
          <p:cNvSpPr/>
          <p:nvPr/>
        </p:nvSpPr>
        <p:spPr>
          <a:xfrm>
            <a:off x="11100816" y="786384"/>
            <a:ext cx="402336"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6" name="Text 4"/>
          <p:cNvSpPr/>
          <p:nvPr/>
        </p:nvSpPr>
        <p:spPr>
          <a:xfrm>
            <a:off x="566928" y="402336"/>
            <a:ext cx="4389120" cy="256032"/>
          </a:xfrm>
          <a:prstGeom prst="rect">
            <a:avLst/>
          </a:prstGeom>
          <a:noFill/>
          <a:ln/>
        </p:spPr>
        <p:txBody>
          <a:bodyPr wrap="square" lIns="0" tIns="0" rIns="0" bIns="0" rtlCol="0" anchor="ctr"/>
          <a:lstStyle/>
          <a:p>
            <a:pPr marL="0" indent="0">
              <a:buNone/>
            </a:pPr>
            <a:r>
              <a:rPr lang="en-US" sz="1150" b="1" dirty="0">
                <a:solidFill>
                  <a:srgbClr val="22D3EE"/>
                </a:solidFill>
                <a:latin typeface="Aptos" pitchFamily="34" charset="0"/>
                <a:ea typeface="Aptos" pitchFamily="34" charset="-122"/>
                <a:cs typeface="Aptos" pitchFamily="34" charset="-120"/>
              </a:rPr>
              <a:t>4 · CE QUE LE SITE PERMET</a:t>
            </a:r>
            <a:endParaRPr lang="en-US" sz="1150" dirty="0"/>
          </a:p>
        </p:txBody>
      </p:sp>
      <p:sp>
        <p:nvSpPr>
          <p:cNvPr id="7" name="Text 5"/>
          <p:cNvSpPr/>
          <p:nvPr/>
        </p:nvSpPr>
        <p:spPr>
          <a:xfrm>
            <a:off x="548640" y="786384"/>
            <a:ext cx="6217920" cy="548640"/>
          </a:xfrm>
          <a:prstGeom prst="rect">
            <a:avLst/>
          </a:prstGeom>
          <a:noFill/>
          <a:ln/>
        </p:spPr>
        <p:txBody>
          <a:bodyPr wrap="square" lIns="254" tIns="254" rIns="254" bIns="254" rtlCol="0" anchor="ctr">
            <a:normAutofit/>
          </a:bodyPr>
          <a:lstStyle/>
          <a:p>
            <a:pPr marL="0" indent="0">
              <a:buNone/>
            </a:pPr>
            <a:r>
              <a:rPr lang="en-US" sz="2900" b="1" dirty="0">
                <a:solidFill>
                  <a:srgbClr val="F8FAFC"/>
                </a:solidFill>
                <a:latin typeface="Aptos Display" pitchFamily="34" charset="0"/>
                <a:ea typeface="Aptos Display" pitchFamily="34" charset="-122"/>
                <a:cs typeface="Aptos Display" pitchFamily="34" charset="-120"/>
              </a:rPr>
              <a:t>Fonctionnalités implémentées</a:t>
            </a:r>
            <a:endParaRPr lang="en-US" sz="2900" dirty="0"/>
          </a:p>
        </p:txBody>
      </p:sp>
      <p:sp>
        <p:nvSpPr>
          <p:cNvPr id="8" name="Shape 6"/>
          <p:cNvSpPr/>
          <p:nvPr/>
        </p:nvSpPr>
        <p:spPr>
          <a:xfrm>
            <a:off x="685800" y="1627632"/>
            <a:ext cx="100584" cy="320040"/>
          </a:xfrm>
          <a:prstGeom prst="rect">
            <a:avLst/>
          </a:prstGeom>
          <a:solidFill>
            <a:srgbClr val="3B82F6"/>
          </a:solidFill>
          <a:ln w="12700">
            <a:solidFill>
              <a:srgbClr val="333333">
                <a:alpha val="0"/>
              </a:srgbClr>
            </a:solidFill>
            <a:prstDash val="solid"/>
          </a:ln>
        </p:spPr>
        <p:txBody>
          <a:bodyPr/>
          <a:lstStyle/>
          <a:p>
            <a:endParaRPr lang="en-US"/>
          </a:p>
        </p:txBody>
      </p:sp>
      <p:sp>
        <p:nvSpPr>
          <p:cNvPr id="9" name="Text 7"/>
          <p:cNvSpPr/>
          <p:nvPr/>
        </p:nvSpPr>
        <p:spPr>
          <a:xfrm>
            <a:off x="960120" y="1508760"/>
            <a:ext cx="2926080" cy="301752"/>
          </a:xfrm>
          <a:prstGeom prst="rect">
            <a:avLst/>
          </a:prstGeom>
          <a:noFill/>
          <a:ln/>
        </p:spPr>
        <p:txBody>
          <a:bodyPr wrap="square" lIns="508" tIns="508" rIns="508" bIns="508" rtlCol="0" anchor="t">
            <a:normAutofit/>
          </a:bodyPr>
          <a:lstStyle/>
          <a:p>
            <a:pPr marL="0" indent="0" algn="l">
              <a:lnSpc>
                <a:spcPct val="92000"/>
              </a:lnSpc>
              <a:buNone/>
            </a:pPr>
            <a:r>
              <a:rPr lang="en-US" sz="1700" b="1" dirty="0">
                <a:solidFill>
                  <a:srgbClr val="F8FAFC"/>
                </a:solidFill>
                <a:latin typeface="Aptos" pitchFamily="34" charset="0"/>
                <a:ea typeface="Aptos" pitchFamily="34" charset="-122"/>
                <a:cs typeface="Aptos" pitchFamily="34" charset="-120"/>
              </a:rPr>
              <a:t>Gestion du compte</a:t>
            </a:r>
            <a:endParaRPr lang="en-US" sz="1700" dirty="0"/>
          </a:p>
        </p:txBody>
      </p:sp>
      <p:sp>
        <p:nvSpPr>
          <p:cNvPr id="10" name="Text 8"/>
          <p:cNvSpPr/>
          <p:nvPr/>
        </p:nvSpPr>
        <p:spPr>
          <a:xfrm>
            <a:off x="4160520" y="1508760"/>
            <a:ext cx="5577840" cy="329184"/>
          </a:xfrm>
          <a:prstGeom prst="rect">
            <a:avLst/>
          </a:prstGeom>
          <a:noFill/>
          <a:ln/>
        </p:spPr>
        <p:txBody>
          <a:bodyPr wrap="square" lIns="508" tIns="508" rIns="508" bIns="508" rtlCol="0" anchor="t">
            <a:normAutofit/>
          </a:bodyPr>
          <a:lstStyle/>
          <a:p>
            <a:pPr marL="0" indent="0" algn="l">
              <a:lnSpc>
                <a:spcPct val="92000"/>
              </a:lnSpc>
              <a:buNone/>
            </a:pPr>
            <a:r>
              <a:rPr lang="en-US" sz="1550" dirty="0">
                <a:solidFill>
                  <a:srgbClr val="CBD5E1"/>
                </a:solidFill>
                <a:latin typeface="Aptos" pitchFamily="34" charset="0"/>
                <a:ea typeface="Aptos" pitchFamily="34" charset="-122"/>
                <a:cs typeface="Aptos" pitchFamily="34" charset="-120"/>
              </a:rPr>
              <a:t>Inscription, connexion et mise à jour du profil.</a:t>
            </a:r>
            <a:endParaRPr lang="en-US" sz="1550" dirty="0"/>
          </a:p>
        </p:txBody>
      </p:sp>
      <p:sp>
        <p:nvSpPr>
          <p:cNvPr id="11" name="Shape 9"/>
          <p:cNvSpPr/>
          <p:nvPr/>
        </p:nvSpPr>
        <p:spPr>
          <a:xfrm>
            <a:off x="685800" y="2414016"/>
            <a:ext cx="100584" cy="320040"/>
          </a:xfrm>
          <a:prstGeom prst="rect">
            <a:avLst/>
          </a:prstGeom>
          <a:solidFill>
            <a:srgbClr val="34D399"/>
          </a:solidFill>
          <a:ln w="12700">
            <a:solidFill>
              <a:srgbClr val="333333">
                <a:alpha val="0"/>
              </a:srgbClr>
            </a:solidFill>
            <a:prstDash val="solid"/>
          </a:ln>
        </p:spPr>
        <p:txBody>
          <a:bodyPr/>
          <a:lstStyle/>
          <a:p>
            <a:endParaRPr lang="en-US"/>
          </a:p>
        </p:txBody>
      </p:sp>
      <p:sp>
        <p:nvSpPr>
          <p:cNvPr id="12" name="Text 10"/>
          <p:cNvSpPr/>
          <p:nvPr/>
        </p:nvSpPr>
        <p:spPr>
          <a:xfrm>
            <a:off x="960120" y="2295144"/>
            <a:ext cx="2926080" cy="301752"/>
          </a:xfrm>
          <a:prstGeom prst="rect">
            <a:avLst/>
          </a:prstGeom>
          <a:noFill/>
          <a:ln/>
        </p:spPr>
        <p:txBody>
          <a:bodyPr wrap="square" lIns="508" tIns="508" rIns="508" bIns="508" rtlCol="0" anchor="t">
            <a:normAutofit/>
          </a:bodyPr>
          <a:lstStyle/>
          <a:p>
            <a:pPr marL="0" indent="0" algn="l">
              <a:lnSpc>
                <a:spcPct val="92000"/>
              </a:lnSpc>
              <a:buNone/>
            </a:pPr>
            <a:r>
              <a:rPr lang="en-US" sz="1700" b="1" dirty="0">
                <a:solidFill>
                  <a:srgbClr val="F8FAFC"/>
                </a:solidFill>
                <a:latin typeface="Aptos" pitchFamily="34" charset="0"/>
                <a:ea typeface="Aptos" pitchFamily="34" charset="-122"/>
                <a:cs typeface="Aptos" pitchFamily="34" charset="-120"/>
              </a:rPr>
              <a:t>Horaire</a:t>
            </a:r>
            <a:endParaRPr lang="en-US" sz="1700" dirty="0"/>
          </a:p>
        </p:txBody>
      </p:sp>
      <p:sp>
        <p:nvSpPr>
          <p:cNvPr id="13" name="Text 11"/>
          <p:cNvSpPr/>
          <p:nvPr/>
        </p:nvSpPr>
        <p:spPr>
          <a:xfrm>
            <a:off x="4160520" y="2295144"/>
            <a:ext cx="5577840" cy="329184"/>
          </a:xfrm>
          <a:prstGeom prst="rect">
            <a:avLst/>
          </a:prstGeom>
          <a:noFill/>
          <a:ln/>
        </p:spPr>
        <p:txBody>
          <a:bodyPr wrap="square" lIns="508" tIns="508" rIns="508" bIns="508" rtlCol="0" anchor="t">
            <a:normAutofit/>
          </a:bodyPr>
          <a:lstStyle/>
          <a:p>
            <a:pPr marL="0" indent="0" algn="l">
              <a:lnSpc>
                <a:spcPct val="92000"/>
              </a:lnSpc>
              <a:buNone/>
            </a:pPr>
            <a:r>
              <a:rPr lang="en-US" sz="1550" dirty="0">
                <a:solidFill>
                  <a:srgbClr val="CBD5E1"/>
                </a:solidFill>
                <a:latin typeface="Aptos" pitchFamily="34" charset="0"/>
                <a:ea typeface="Aptos" pitchFamily="34" charset="-122"/>
                <a:cs typeface="Aptos" pitchFamily="34" charset="-120"/>
              </a:rPr>
              <a:t>Ajout, modification et suppression d’activités.</a:t>
            </a:r>
            <a:endParaRPr lang="en-US" sz="1550" dirty="0"/>
          </a:p>
        </p:txBody>
      </p:sp>
      <p:sp>
        <p:nvSpPr>
          <p:cNvPr id="14" name="Shape 12"/>
          <p:cNvSpPr/>
          <p:nvPr/>
        </p:nvSpPr>
        <p:spPr>
          <a:xfrm>
            <a:off x="685800" y="3200400"/>
            <a:ext cx="100584" cy="320040"/>
          </a:xfrm>
          <a:prstGeom prst="rect">
            <a:avLst/>
          </a:prstGeom>
          <a:solidFill>
            <a:srgbClr val="8B5CF6"/>
          </a:solidFill>
          <a:ln w="12700">
            <a:solidFill>
              <a:srgbClr val="333333">
                <a:alpha val="0"/>
              </a:srgbClr>
            </a:solidFill>
            <a:prstDash val="solid"/>
          </a:ln>
        </p:spPr>
        <p:txBody>
          <a:bodyPr/>
          <a:lstStyle/>
          <a:p>
            <a:endParaRPr lang="en-US"/>
          </a:p>
        </p:txBody>
      </p:sp>
      <p:sp>
        <p:nvSpPr>
          <p:cNvPr id="15" name="Text 13"/>
          <p:cNvSpPr/>
          <p:nvPr/>
        </p:nvSpPr>
        <p:spPr>
          <a:xfrm>
            <a:off x="960120" y="3081528"/>
            <a:ext cx="2926080" cy="301752"/>
          </a:xfrm>
          <a:prstGeom prst="rect">
            <a:avLst/>
          </a:prstGeom>
          <a:noFill/>
          <a:ln/>
        </p:spPr>
        <p:txBody>
          <a:bodyPr wrap="square" lIns="508" tIns="508" rIns="508" bIns="508" rtlCol="0" anchor="t">
            <a:normAutofit/>
          </a:bodyPr>
          <a:lstStyle/>
          <a:p>
            <a:pPr marL="0" indent="0" algn="l">
              <a:lnSpc>
                <a:spcPct val="92000"/>
              </a:lnSpc>
              <a:buNone/>
            </a:pPr>
            <a:r>
              <a:rPr lang="en-US" sz="1700" b="1" dirty="0">
                <a:solidFill>
                  <a:srgbClr val="F8FAFC"/>
                </a:solidFill>
                <a:latin typeface="Aptos" pitchFamily="34" charset="0"/>
                <a:ea typeface="Aptos" pitchFamily="34" charset="-122"/>
                <a:cs typeface="Aptos" pitchFamily="34" charset="-120"/>
              </a:rPr>
              <a:t>Groupes</a:t>
            </a:r>
            <a:endParaRPr lang="en-US" sz="1700" dirty="0"/>
          </a:p>
        </p:txBody>
      </p:sp>
      <p:sp>
        <p:nvSpPr>
          <p:cNvPr id="16" name="Text 14"/>
          <p:cNvSpPr/>
          <p:nvPr/>
        </p:nvSpPr>
        <p:spPr>
          <a:xfrm>
            <a:off x="4160520" y="3081528"/>
            <a:ext cx="5577840" cy="329184"/>
          </a:xfrm>
          <a:prstGeom prst="rect">
            <a:avLst/>
          </a:prstGeom>
          <a:noFill/>
          <a:ln/>
        </p:spPr>
        <p:txBody>
          <a:bodyPr wrap="square" lIns="508" tIns="508" rIns="508" bIns="508" rtlCol="0" anchor="t">
            <a:normAutofit/>
          </a:bodyPr>
          <a:lstStyle/>
          <a:p>
            <a:pPr marL="0" indent="0" algn="l">
              <a:lnSpc>
                <a:spcPct val="92000"/>
              </a:lnSpc>
              <a:buNone/>
            </a:pPr>
            <a:r>
              <a:rPr lang="en-US" sz="1550" dirty="0">
                <a:solidFill>
                  <a:srgbClr val="CBD5E1"/>
                </a:solidFill>
                <a:latin typeface="Aptos" pitchFamily="34" charset="0"/>
                <a:ea typeface="Aptos" pitchFamily="34" charset="-122"/>
                <a:cs typeface="Aptos" pitchFamily="34" charset="-120"/>
              </a:rPr>
              <a:t>Création de groupe, membres, invitations et demandes.</a:t>
            </a:r>
            <a:endParaRPr lang="en-US" sz="1550" dirty="0"/>
          </a:p>
        </p:txBody>
      </p:sp>
      <p:sp>
        <p:nvSpPr>
          <p:cNvPr id="17" name="Shape 15"/>
          <p:cNvSpPr/>
          <p:nvPr/>
        </p:nvSpPr>
        <p:spPr>
          <a:xfrm>
            <a:off x="685800" y="3986784"/>
            <a:ext cx="100584" cy="320040"/>
          </a:xfrm>
          <a:prstGeom prst="rect">
            <a:avLst/>
          </a:prstGeom>
          <a:solidFill>
            <a:srgbClr val="22D3EE"/>
          </a:solidFill>
          <a:ln w="12700">
            <a:solidFill>
              <a:srgbClr val="333333">
                <a:alpha val="0"/>
              </a:srgbClr>
            </a:solidFill>
            <a:prstDash val="solid"/>
          </a:ln>
        </p:spPr>
        <p:txBody>
          <a:bodyPr/>
          <a:lstStyle/>
          <a:p>
            <a:endParaRPr lang="en-US"/>
          </a:p>
        </p:txBody>
      </p:sp>
      <p:sp>
        <p:nvSpPr>
          <p:cNvPr id="18" name="Text 16"/>
          <p:cNvSpPr/>
          <p:nvPr/>
        </p:nvSpPr>
        <p:spPr>
          <a:xfrm>
            <a:off x="960120" y="3867912"/>
            <a:ext cx="2926080" cy="301752"/>
          </a:xfrm>
          <a:prstGeom prst="rect">
            <a:avLst/>
          </a:prstGeom>
          <a:noFill/>
          <a:ln/>
        </p:spPr>
        <p:txBody>
          <a:bodyPr wrap="square" lIns="508" tIns="508" rIns="508" bIns="508" rtlCol="0" anchor="t">
            <a:normAutofit/>
          </a:bodyPr>
          <a:lstStyle/>
          <a:p>
            <a:pPr marL="0" indent="0" algn="l">
              <a:lnSpc>
                <a:spcPct val="92000"/>
              </a:lnSpc>
              <a:buNone/>
            </a:pPr>
            <a:r>
              <a:rPr lang="en-US" sz="1700" b="1" dirty="0">
                <a:solidFill>
                  <a:srgbClr val="F8FAFC"/>
                </a:solidFill>
                <a:latin typeface="Aptos" pitchFamily="34" charset="0"/>
                <a:ea typeface="Aptos" pitchFamily="34" charset="-122"/>
                <a:cs typeface="Aptos" pitchFamily="34" charset="-120"/>
              </a:rPr>
              <a:t>Temps libre commun</a:t>
            </a:r>
            <a:endParaRPr lang="en-US" sz="1700" dirty="0"/>
          </a:p>
        </p:txBody>
      </p:sp>
      <p:sp>
        <p:nvSpPr>
          <p:cNvPr id="19" name="Text 17"/>
          <p:cNvSpPr/>
          <p:nvPr/>
        </p:nvSpPr>
        <p:spPr>
          <a:xfrm>
            <a:off x="4160520" y="3867912"/>
            <a:ext cx="5577840" cy="329184"/>
          </a:xfrm>
          <a:prstGeom prst="rect">
            <a:avLst/>
          </a:prstGeom>
          <a:noFill/>
          <a:ln/>
        </p:spPr>
        <p:txBody>
          <a:bodyPr wrap="square" lIns="508" tIns="508" rIns="508" bIns="508" rtlCol="0" anchor="t">
            <a:normAutofit/>
          </a:bodyPr>
          <a:lstStyle/>
          <a:p>
            <a:pPr marL="0" indent="0" algn="l">
              <a:lnSpc>
                <a:spcPct val="92000"/>
              </a:lnSpc>
              <a:buNone/>
            </a:pPr>
            <a:r>
              <a:rPr lang="en-US" sz="1550" dirty="0">
                <a:solidFill>
                  <a:srgbClr val="CBD5E1"/>
                </a:solidFill>
                <a:latin typeface="Aptos" pitchFamily="34" charset="0"/>
                <a:ea typeface="Aptos" pitchFamily="34" charset="-122"/>
                <a:cs typeface="Aptos" pitchFamily="34" charset="-120"/>
              </a:rPr>
              <a:t>Comparaison des horaires pour repérer les disponibilités.</a:t>
            </a:r>
            <a:endParaRPr lang="en-US" sz="1550" dirty="0"/>
          </a:p>
        </p:txBody>
      </p:sp>
      <p:sp>
        <p:nvSpPr>
          <p:cNvPr id="20" name="Shape 18"/>
          <p:cNvSpPr/>
          <p:nvPr/>
        </p:nvSpPr>
        <p:spPr>
          <a:xfrm>
            <a:off x="685800" y="4773168"/>
            <a:ext cx="100584" cy="320040"/>
          </a:xfrm>
          <a:prstGeom prst="rect">
            <a:avLst/>
          </a:prstGeom>
          <a:solidFill>
            <a:srgbClr val="F59E0B"/>
          </a:solidFill>
          <a:ln w="12700">
            <a:solidFill>
              <a:srgbClr val="333333">
                <a:alpha val="0"/>
              </a:srgbClr>
            </a:solidFill>
            <a:prstDash val="solid"/>
          </a:ln>
        </p:spPr>
        <p:txBody>
          <a:bodyPr/>
          <a:lstStyle/>
          <a:p>
            <a:endParaRPr lang="en-US"/>
          </a:p>
        </p:txBody>
      </p:sp>
      <p:sp>
        <p:nvSpPr>
          <p:cNvPr id="21" name="Text 19"/>
          <p:cNvSpPr/>
          <p:nvPr/>
        </p:nvSpPr>
        <p:spPr>
          <a:xfrm>
            <a:off x="960120" y="4654296"/>
            <a:ext cx="2926080" cy="301752"/>
          </a:xfrm>
          <a:prstGeom prst="rect">
            <a:avLst/>
          </a:prstGeom>
          <a:noFill/>
          <a:ln/>
        </p:spPr>
        <p:txBody>
          <a:bodyPr wrap="square" lIns="508" tIns="508" rIns="508" bIns="508" rtlCol="0" anchor="t">
            <a:normAutofit/>
          </a:bodyPr>
          <a:lstStyle/>
          <a:p>
            <a:pPr marL="0" indent="0" algn="l">
              <a:lnSpc>
                <a:spcPct val="92000"/>
              </a:lnSpc>
              <a:buNone/>
            </a:pPr>
            <a:r>
              <a:rPr lang="en-US" sz="1700" b="1" dirty="0">
                <a:solidFill>
                  <a:srgbClr val="F8FAFC"/>
                </a:solidFill>
                <a:latin typeface="Aptos" pitchFamily="34" charset="0"/>
                <a:ea typeface="Aptos" pitchFamily="34" charset="-122"/>
                <a:cs typeface="Aptos" pitchFamily="34" charset="-120"/>
              </a:rPr>
              <a:t>Notifications</a:t>
            </a:r>
            <a:endParaRPr lang="en-US" sz="1700" dirty="0"/>
          </a:p>
        </p:txBody>
      </p:sp>
      <p:sp>
        <p:nvSpPr>
          <p:cNvPr id="22" name="Text 20"/>
          <p:cNvSpPr/>
          <p:nvPr/>
        </p:nvSpPr>
        <p:spPr>
          <a:xfrm>
            <a:off x="4160520" y="4654296"/>
            <a:ext cx="5577840" cy="329184"/>
          </a:xfrm>
          <a:prstGeom prst="rect">
            <a:avLst/>
          </a:prstGeom>
          <a:noFill/>
          <a:ln/>
        </p:spPr>
        <p:txBody>
          <a:bodyPr wrap="square" lIns="508" tIns="508" rIns="508" bIns="508" rtlCol="0" anchor="t">
            <a:normAutofit/>
          </a:bodyPr>
          <a:lstStyle/>
          <a:p>
            <a:pPr marL="0" indent="0" algn="l">
              <a:lnSpc>
                <a:spcPct val="92000"/>
              </a:lnSpc>
              <a:buNone/>
            </a:pPr>
            <a:r>
              <a:rPr lang="en-US" sz="1550" dirty="0">
                <a:solidFill>
                  <a:srgbClr val="CBD5E1"/>
                </a:solidFill>
                <a:latin typeface="Aptos" pitchFamily="34" charset="0"/>
                <a:ea typeface="Aptos" pitchFamily="34" charset="-122"/>
                <a:cs typeface="Aptos" pitchFamily="34" charset="-120"/>
              </a:rPr>
              <a:t>Informer l’utilisateur quand une action demande son attention.</a:t>
            </a:r>
            <a:endParaRPr lang="en-US" sz="1550" dirty="0"/>
          </a:p>
        </p:txBody>
      </p:sp>
      <p:sp>
        <p:nvSpPr>
          <p:cNvPr id="23" name="Text 21"/>
          <p:cNvSpPr/>
          <p:nvPr/>
        </p:nvSpPr>
        <p:spPr>
          <a:xfrm>
            <a:off x="1920240" y="5650992"/>
            <a:ext cx="8046720" cy="457200"/>
          </a:xfrm>
          <a:prstGeom prst="roundRect">
            <a:avLst/>
          </a:prstGeom>
          <a:solidFill>
            <a:srgbClr val="22D3EE"/>
          </a:solidFill>
          <a:ln w="12700">
            <a:solidFill>
              <a:srgbClr val="22D3EE"/>
            </a:solidFill>
          </a:ln>
        </p:spPr>
        <p:txBody>
          <a:bodyPr wrap="square" lIns="381" tIns="381" rIns="381" bIns="381" rtlCol="0" anchor="ctr">
            <a:normAutofit/>
          </a:bodyPr>
          <a:lstStyle/>
          <a:p>
            <a:pPr marL="0" indent="0" algn="ctr">
              <a:buNone/>
            </a:pPr>
            <a:r>
              <a:rPr lang="en-US" sz="1350" b="1" dirty="0">
                <a:solidFill>
                  <a:srgbClr val="020617"/>
                </a:solidFill>
                <a:latin typeface="Aptos" pitchFamily="34" charset="0"/>
                <a:ea typeface="Aptos" pitchFamily="34" charset="-122"/>
                <a:cs typeface="Aptos" pitchFamily="34" charset="-120"/>
              </a:rPr>
              <a:t>Cœur du projet : comparer les horaires pour trouver une plage commune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txBody>
          <a:bodyPr/>
          <a:lstStyle/>
          <a:p>
            <a:endParaRPr lang="en-US"/>
          </a:p>
        </p:txBody>
      </p:sp>
      <p:sp>
        <p:nvSpPr>
          <p:cNvPr id="3" name="Shape 1"/>
          <p:cNvSpPr/>
          <p:nvPr/>
        </p:nvSpPr>
        <p:spPr>
          <a:xfrm>
            <a:off x="11247120" y="347472"/>
            <a:ext cx="438912"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4" name="Shape 2"/>
          <p:cNvSpPr/>
          <p:nvPr/>
        </p:nvSpPr>
        <p:spPr>
          <a:xfrm>
            <a:off x="11411712" y="566928"/>
            <a:ext cx="512064" cy="18288"/>
          </a:xfrm>
          <a:prstGeom prst="rect">
            <a:avLst/>
          </a:prstGeom>
          <a:solidFill>
            <a:srgbClr val="8B5CF6">
              <a:alpha val="95000"/>
            </a:srgbClr>
          </a:solidFill>
          <a:ln w="12700">
            <a:solidFill>
              <a:srgbClr val="333333">
                <a:alpha val="0"/>
              </a:srgbClr>
            </a:solidFill>
            <a:prstDash val="solid"/>
          </a:ln>
        </p:spPr>
        <p:txBody>
          <a:bodyPr/>
          <a:lstStyle/>
          <a:p>
            <a:endParaRPr lang="en-US"/>
          </a:p>
        </p:txBody>
      </p:sp>
      <p:sp>
        <p:nvSpPr>
          <p:cNvPr id="5" name="Shape 3"/>
          <p:cNvSpPr/>
          <p:nvPr/>
        </p:nvSpPr>
        <p:spPr>
          <a:xfrm>
            <a:off x="11100816" y="786384"/>
            <a:ext cx="402336"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6" name="Text 4"/>
          <p:cNvSpPr/>
          <p:nvPr/>
        </p:nvSpPr>
        <p:spPr>
          <a:xfrm>
            <a:off x="566928" y="402336"/>
            <a:ext cx="4389120" cy="256032"/>
          </a:xfrm>
          <a:prstGeom prst="rect">
            <a:avLst/>
          </a:prstGeom>
          <a:noFill/>
          <a:ln/>
        </p:spPr>
        <p:txBody>
          <a:bodyPr wrap="square" lIns="0" tIns="0" rIns="0" bIns="0" rtlCol="0" anchor="ctr"/>
          <a:lstStyle/>
          <a:p>
            <a:pPr marL="0" indent="0">
              <a:buNone/>
            </a:pPr>
            <a:r>
              <a:rPr lang="en-US" sz="1150" b="1" dirty="0">
                <a:solidFill>
                  <a:srgbClr val="22D3EE"/>
                </a:solidFill>
                <a:latin typeface="Aptos" pitchFamily="34" charset="0"/>
                <a:ea typeface="Aptos" pitchFamily="34" charset="-122"/>
                <a:cs typeface="Aptos" pitchFamily="34" charset="-120"/>
              </a:rPr>
              <a:t>5 · VUE D’ENSEMBLE TECHNIQUE</a:t>
            </a:r>
            <a:endParaRPr lang="en-US" sz="1150" dirty="0"/>
          </a:p>
        </p:txBody>
      </p:sp>
      <p:sp>
        <p:nvSpPr>
          <p:cNvPr id="7" name="Text 5"/>
          <p:cNvSpPr/>
          <p:nvPr/>
        </p:nvSpPr>
        <p:spPr>
          <a:xfrm>
            <a:off x="548640" y="786384"/>
            <a:ext cx="6217920" cy="548640"/>
          </a:xfrm>
          <a:prstGeom prst="rect">
            <a:avLst/>
          </a:prstGeom>
          <a:noFill/>
          <a:ln/>
        </p:spPr>
        <p:txBody>
          <a:bodyPr wrap="square" lIns="254" tIns="254" rIns="254" bIns="254" rtlCol="0" anchor="ctr">
            <a:normAutofit/>
          </a:bodyPr>
          <a:lstStyle/>
          <a:p>
            <a:pPr marL="0" indent="0">
              <a:buNone/>
            </a:pPr>
            <a:r>
              <a:rPr lang="en-US" sz="2900" b="1" dirty="0">
                <a:solidFill>
                  <a:srgbClr val="F8FAFC"/>
                </a:solidFill>
                <a:latin typeface="Aptos Display" pitchFamily="34" charset="0"/>
                <a:ea typeface="Aptos Display" pitchFamily="34" charset="-122"/>
                <a:cs typeface="Aptos Display" pitchFamily="34" charset="-120"/>
              </a:rPr>
              <a:t>Architecture rapide</a:t>
            </a:r>
            <a:endParaRPr lang="en-US" sz="2900" dirty="0"/>
          </a:p>
        </p:txBody>
      </p:sp>
      <p:sp>
        <p:nvSpPr>
          <p:cNvPr id="8" name="Text 6"/>
          <p:cNvSpPr/>
          <p:nvPr/>
        </p:nvSpPr>
        <p:spPr>
          <a:xfrm>
            <a:off x="594360" y="1417320"/>
            <a:ext cx="6858000" cy="347472"/>
          </a:xfrm>
          <a:prstGeom prst="rect">
            <a:avLst/>
          </a:prstGeom>
          <a:noFill/>
          <a:ln/>
        </p:spPr>
        <p:txBody>
          <a:bodyPr wrap="square" lIns="508" tIns="508" rIns="508" bIns="508" rtlCol="0" anchor="t">
            <a:normAutofit/>
          </a:bodyPr>
          <a:lstStyle/>
          <a:p>
            <a:pPr marL="0" indent="0" algn="l">
              <a:lnSpc>
                <a:spcPct val="92000"/>
              </a:lnSpc>
              <a:buNone/>
            </a:pPr>
            <a:r>
              <a:rPr lang="en-US" sz="1800" dirty="0">
                <a:solidFill>
                  <a:srgbClr val="CBD5E1"/>
                </a:solidFill>
                <a:latin typeface="Aptos" pitchFamily="34" charset="0"/>
                <a:ea typeface="Aptos" pitchFamily="34" charset="-122"/>
                <a:cs typeface="Aptos" pitchFamily="34" charset="-120"/>
              </a:rPr>
              <a:t>Une séparation claire : interface web, API, logique métier et données.</a:t>
            </a:r>
            <a:endParaRPr lang="en-US" sz="1800" dirty="0"/>
          </a:p>
        </p:txBody>
      </p:sp>
      <p:sp>
        <p:nvSpPr>
          <p:cNvPr id="9" name="Shape 7"/>
          <p:cNvSpPr/>
          <p:nvPr/>
        </p:nvSpPr>
        <p:spPr>
          <a:xfrm>
            <a:off x="2542032" y="3337560"/>
            <a:ext cx="1042416" cy="0"/>
          </a:xfrm>
          <a:prstGeom prst="line">
            <a:avLst/>
          </a:prstGeom>
          <a:noFill/>
          <a:ln w="15240">
            <a:solidFill>
              <a:srgbClr val="22D3EE"/>
            </a:solidFill>
            <a:prstDash val="solid"/>
            <a:headEnd type="none"/>
            <a:tailEnd type="triangle"/>
          </a:ln>
        </p:spPr>
        <p:txBody>
          <a:bodyPr/>
          <a:lstStyle/>
          <a:p>
            <a:endParaRPr lang="en-US"/>
          </a:p>
        </p:txBody>
      </p:sp>
      <p:sp>
        <p:nvSpPr>
          <p:cNvPr id="10" name="Shape 8"/>
          <p:cNvSpPr/>
          <p:nvPr/>
        </p:nvSpPr>
        <p:spPr>
          <a:xfrm>
            <a:off x="5870448" y="3136392"/>
            <a:ext cx="914400" cy="0"/>
          </a:xfrm>
          <a:prstGeom prst="line">
            <a:avLst/>
          </a:prstGeom>
          <a:noFill/>
          <a:ln w="15240">
            <a:solidFill>
              <a:srgbClr val="34D399"/>
            </a:solidFill>
            <a:prstDash val="solid"/>
            <a:headEnd type="none"/>
            <a:tailEnd type="triangle"/>
          </a:ln>
        </p:spPr>
        <p:txBody>
          <a:bodyPr/>
          <a:lstStyle/>
          <a:p>
            <a:endParaRPr lang="en-US"/>
          </a:p>
        </p:txBody>
      </p:sp>
      <p:sp>
        <p:nvSpPr>
          <p:cNvPr id="11" name="Shape 9"/>
          <p:cNvSpPr/>
          <p:nvPr/>
        </p:nvSpPr>
        <p:spPr>
          <a:xfrm>
            <a:off x="5870448" y="3547872"/>
            <a:ext cx="914400" cy="457200"/>
          </a:xfrm>
          <a:prstGeom prst="line">
            <a:avLst/>
          </a:prstGeom>
          <a:noFill/>
          <a:ln w="15240">
            <a:solidFill>
              <a:srgbClr val="8B5CF6"/>
            </a:solidFill>
            <a:prstDash val="solid"/>
            <a:headEnd type="none"/>
            <a:tailEnd type="triangle"/>
          </a:ln>
        </p:spPr>
        <p:txBody>
          <a:bodyPr/>
          <a:lstStyle/>
          <a:p>
            <a:endParaRPr lang="en-US"/>
          </a:p>
        </p:txBody>
      </p:sp>
      <p:sp>
        <p:nvSpPr>
          <p:cNvPr id="12" name="Shape 10"/>
          <p:cNvSpPr/>
          <p:nvPr/>
        </p:nvSpPr>
        <p:spPr>
          <a:xfrm>
            <a:off x="8942832" y="2542032"/>
            <a:ext cx="658368" cy="621792"/>
          </a:xfrm>
          <a:prstGeom prst="line">
            <a:avLst/>
          </a:prstGeom>
          <a:noFill/>
          <a:ln w="15240">
            <a:solidFill>
              <a:srgbClr val="334155"/>
            </a:solidFill>
            <a:prstDash val="solid"/>
            <a:headEnd type="none"/>
            <a:tailEnd type="triangle"/>
          </a:ln>
        </p:spPr>
        <p:txBody>
          <a:bodyPr/>
          <a:lstStyle/>
          <a:p>
            <a:endParaRPr lang="en-US"/>
          </a:p>
        </p:txBody>
      </p:sp>
      <p:sp>
        <p:nvSpPr>
          <p:cNvPr id="13" name="Shape 11"/>
          <p:cNvSpPr/>
          <p:nvPr/>
        </p:nvSpPr>
        <p:spPr>
          <a:xfrm>
            <a:off x="8942832" y="4041648"/>
            <a:ext cx="658368" cy="0"/>
          </a:xfrm>
          <a:prstGeom prst="line">
            <a:avLst/>
          </a:prstGeom>
          <a:noFill/>
          <a:ln w="15240">
            <a:solidFill>
              <a:srgbClr val="334155"/>
            </a:solidFill>
            <a:prstDash val="solid"/>
            <a:headEnd type="none"/>
            <a:tailEnd type="triangle"/>
          </a:ln>
        </p:spPr>
        <p:txBody>
          <a:bodyPr/>
          <a:lstStyle/>
          <a:p>
            <a:endParaRPr lang="en-US"/>
          </a:p>
        </p:txBody>
      </p:sp>
      <p:sp>
        <p:nvSpPr>
          <p:cNvPr id="14" name="Text 12"/>
          <p:cNvSpPr/>
          <p:nvPr/>
        </p:nvSpPr>
        <p:spPr>
          <a:xfrm>
            <a:off x="658368" y="2880360"/>
            <a:ext cx="1719072" cy="914400"/>
          </a:xfrm>
          <a:prstGeom prst="roundRect">
            <a:avLst/>
          </a:prstGeom>
          <a:solidFill>
            <a:srgbClr val="3B82F6"/>
          </a:solidFill>
          <a:ln w="15875">
            <a:solidFill>
              <a:srgbClr val="3B82F6"/>
            </a:solidFill>
          </a:ln>
        </p:spPr>
        <p:txBody>
          <a:bodyPr wrap="square" lIns="635" tIns="635" rIns="635" bIns="635" rtlCol="0" anchor="ctr">
            <a:normAutofit/>
          </a:bodyPr>
          <a:lstStyle/>
          <a:p>
            <a:pPr marL="0" indent="0" algn="ctr">
              <a:buNone/>
            </a:pPr>
            <a:r>
              <a:rPr lang="en-US" sz="1500" b="1" dirty="0">
                <a:solidFill>
                  <a:srgbClr val="020617"/>
                </a:solidFill>
                <a:latin typeface="Aptos" pitchFamily="34" charset="0"/>
                <a:ea typeface="Aptos" pitchFamily="34" charset="-122"/>
                <a:cs typeface="Aptos" pitchFamily="34" charset="-120"/>
              </a:rPr>
              <a:t>Frontend</a:t>
            </a:r>
            <a:endParaRPr lang="en-US" sz="1500" dirty="0"/>
          </a:p>
          <a:p>
            <a:pPr marL="0" indent="0" algn="ctr">
              <a:buNone/>
            </a:pPr>
            <a:r>
              <a:rPr lang="en-US" sz="1500" b="1" dirty="0">
                <a:solidFill>
                  <a:srgbClr val="020617"/>
                </a:solidFill>
                <a:latin typeface="Aptos" pitchFamily="34" charset="0"/>
                <a:ea typeface="Aptos" pitchFamily="34" charset="-122"/>
                <a:cs typeface="Aptos" pitchFamily="34" charset="-120"/>
              </a:rPr>
              <a:t>Next.js + React</a:t>
            </a:r>
            <a:endParaRPr lang="en-US" sz="1500" dirty="0"/>
          </a:p>
        </p:txBody>
      </p:sp>
      <p:sp>
        <p:nvSpPr>
          <p:cNvPr id="15" name="Text 13"/>
          <p:cNvSpPr/>
          <p:nvPr/>
        </p:nvSpPr>
        <p:spPr>
          <a:xfrm>
            <a:off x="3749040" y="2880360"/>
            <a:ext cx="1965960" cy="914400"/>
          </a:xfrm>
          <a:prstGeom prst="roundRect">
            <a:avLst/>
          </a:prstGeom>
          <a:solidFill>
            <a:srgbClr val="22D3EE"/>
          </a:solidFill>
          <a:ln w="15875">
            <a:solidFill>
              <a:srgbClr val="22D3EE"/>
            </a:solidFill>
          </a:ln>
        </p:spPr>
        <p:txBody>
          <a:bodyPr wrap="square" lIns="635" tIns="635" rIns="635" bIns="635" rtlCol="0" anchor="ctr">
            <a:normAutofit/>
          </a:bodyPr>
          <a:lstStyle/>
          <a:p>
            <a:pPr marL="0" indent="0" algn="ctr">
              <a:buNone/>
            </a:pPr>
            <a:r>
              <a:rPr lang="en-US" sz="1500" b="1" dirty="0">
                <a:solidFill>
                  <a:srgbClr val="020617"/>
                </a:solidFill>
                <a:latin typeface="Aptos" pitchFamily="34" charset="0"/>
                <a:ea typeface="Aptos" pitchFamily="34" charset="-122"/>
                <a:cs typeface="Aptos" pitchFamily="34" charset="-120"/>
              </a:rPr>
              <a:t>API Spring Boot</a:t>
            </a:r>
            <a:endParaRPr lang="en-US" sz="1500" dirty="0"/>
          </a:p>
          <a:p>
            <a:pPr marL="0" indent="0" algn="ctr">
              <a:buNone/>
            </a:pPr>
            <a:r>
              <a:rPr lang="en-US" sz="1500" b="1" dirty="0">
                <a:solidFill>
                  <a:srgbClr val="020617"/>
                </a:solidFill>
                <a:latin typeface="Aptos" pitchFamily="34" charset="0"/>
                <a:ea typeface="Aptos" pitchFamily="34" charset="-122"/>
                <a:cs typeface="Aptos" pitchFamily="34" charset="-120"/>
              </a:rPr>
              <a:t>Java</a:t>
            </a:r>
            <a:endParaRPr lang="en-US" sz="1500" dirty="0"/>
          </a:p>
        </p:txBody>
      </p:sp>
      <p:sp>
        <p:nvSpPr>
          <p:cNvPr id="16" name="Text 14"/>
          <p:cNvSpPr/>
          <p:nvPr/>
        </p:nvSpPr>
        <p:spPr>
          <a:xfrm>
            <a:off x="6967728" y="2084832"/>
            <a:ext cx="1792224" cy="868680"/>
          </a:xfrm>
          <a:prstGeom prst="roundRect">
            <a:avLst/>
          </a:prstGeom>
          <a:solidFill>
            <a:srgbClr val="34D399"/>
          </a:solidFill>
          <a:ln w="15875">
            <a:solidFill>
              <a:srgbClr val="34D399"/>
            </a:solidFill>
          </a:ln>
        </p:spPr>
        <p:txBody>
          <a:bodyPr wrap="square" lIns="635" tIns="635" rIns="635" bIns="635" rtlCol="0" anchor="ctr">
            <a:normAutofit/>
          </a:bodyPr>
          <a:lstStyle/>
          <a:p>
            <a:pPr marL="0" indent="0" algn="ctr">
              <a:buNone/>
            </a:pPr>
            <a:r>
              <a:rPr lang="en-US" sz="1400" b="1" dirty="0">
                <a:solidFill>
                  <a:srgbClr val="020617"/>
                </a:solidFill>
                <a:latin typeface="Aptos" pitchFamily="34" charset="0"/>
                <a:ea typeface="Aptos" pitchFamily="34" charset="-122"/>
                <a:cs typeface="Aptos" pitchFamily="34" charset="-120"/>
              </a:rPr>
              <a:t>PostgreSQL</a:t>
            </a:r>
            <a:endParaRPr lang="en-US" sz="1400" dirty="0"/>
          </a:p>
          <a:p>
            <a:pPr marL="0" indent="0" algn="ctr">
              <a:buNone/>
            </a:pPr>
            <a:r>
              <a:rPr lang="en-US" sz="1400" b="1" dirty="0">
                <a:solidFill>
                  <a:srgbClr val="020617"/>
                </a:solidFill>
                <a:latin typeface="Aptos" pitchFamily="34" charset="0"/>
                <a:ea typeface="Aptos" pitchFamily="34" charset="-122"/>
                <a:cs typeface="Aptos" pitchFamily="34" charset="-120"/>
              </a:rPr>
              <a:t>Données relationnelles</a:t>
            </a:r>
            <a:endParaRPr lang="en-US" sz="1400" dirty="0"/>
          </a:p>
        </p:txBody>
      </p:sp>
      <p:sp>
        <p:nvSpPr>
          <p:cNvPr id="17" name="Text 15"/>
          <p:cNvSpPr/>
          <p:nvPr/>
        </p:nvSpPr>
        <p:spPr>
          <a:xfrm>
            <a:off x="6967728" y="3602736"/>
            <a:ext cx="1792224" cy="868680"/>
          </a:xfrm>
          <a:prstGeom prst="roundRect">
            <a:avLst/>
          </a:prstGeom>
          <a:solidFill>
            <a:srgbClr val="8B5CF6"/>
          </a:solidFill>
          <a:ln w="15875">
            <a:solidFill>
              <a:srgbClr val="8B5CF6"/>
            </a:solidFill>
          </a:ln>
        </p:spPr>
        <p:txBody>
          <a:bodyPr wrap="square" lIns="635" tIns="635" rIns="635" bIns="635" rtlCol="0" anchor="ctr">
            <a:normAutofit/>
          </a:bodyPr>
          <a:lstStyle/>
          <a:p>
            <a:pPr marL="0" indent="0" algn="ctr">
              <a:buNone/>
            </a:pPr>
            <a:r>
              <a:rPr lang="en-US" sz="1400" b="1" dirty="0">
                <a:solidFill>
                  <a:srgbClr val="020617"/>
                </a:solidFill>
                <a:latin typeface="Aptos" pitchFamily="34" charset="0"/>
                <a:ea typeface="Aptos" pitchFamily="34" charset="-122"/>
                <a:cs typeface="Aptos" pitchFamily="34" charset="-120"/>
              </a:rPr>
              <a:t>MongoDB</a:t>
            </a:r>
            <a:endParaRPr lang="en-US" sz="1400" dirty="0"/>
          </a:p>
          <a:p>
            <a:pPr marL="0" indent="0" algn="ctr">
              <a:buNone/>
            </a:pPr>
            <a:r>
              <a:rPr lang="en-US" sz="1400" b="1" dirty="0">
                <a:solidFill>
                  <a:srgbClr val="020617"/>
                </a:solidFill>
                <a:latin typeface="Aptos" pitchFamily="34" charset="0"/>
                <a:ea typeface="Aptos" pitchFamily="34" charset="-122"/>
                <a:cs typeface="Aptos" pitchFamily="34" charset="-120"/>
              </a:rPr>
              <a:t>Données flexibles</a:t>
            </a:r>
            <a:endParaRPr lang="en-US" sz="1400" dirty="0"/>
          </a:p>
        </p:txBody>
      </p:sp>
      <p:sp>
        <p:nvSpPr>
          <p:cNvPr id="18" name="Text 16"/>
          <p:cNvSpPr/>
          <p:nvPr/>
        </p:nvSpPr>
        <p:spPr>
          <a:xfrm>
            <a:off x="9802368" y="2907792"/>
            <a:ext cx="1664208" cy="914400"/>
          </a:xfrm>
          <a:prstGeom prst="roundRect">
            <a:avLst/>
          </a:prstGeom>
          <a:solidFill>
            <a:srgbClr val="111A2E"/>
          </a:solidFill>
          <a:ln w="15875">
            <a:solidFill>
              <a:srgbClr val="22D3EE"/>
            </a:solidFill>
          </a:ln>
        </p:spPr>
        <p:txBody>
          <a:bodyPr wrap="square" lIns="635" tIns="635" rIns="635" bIns="635" rtlCol="0" anchor="ctr">
            <a:normAutofit/>
          </a:bodyPr>
          <a:lstStyle/>
          <a:p>
            <a:pPr marL="0" indent="0" algn="ctr">
              <a:buNone/>
            </a:pPr>
            <a:r>
              <a:rPr lang="en-US" sz="1400" b="1" dirty="0">
                <a:solidFill>
                  <a:srgbClr val="F8FAFC"/>
                </a:solidFill>
                <a:latin typeface="Aptos" pitchFamily="34" charset="0"/>
                <a:ea typeface="Aptos" pitchFamily="34" charset="-122"/>
                <a:cs typeface="Aptos" pitchFamily="34" charset="-120"/>
              </a:rPr>
              <a:t>Cloud</a:t>
            </a:r>
            <a:endParaRPr lang="en-US" sz="1400" dirty="0"/>
          </a:p>
          <a:p>
            <a:pPr marL="0" indent="0" algn="ctr">
              <a:buNone/>
            </a:pPr>
            <a:r>
              <a:rPr lang="en-US" sz="1400" b="1" dirty="0">
                <a:solidFill>
                  <a:srgbClr val="F8FAFC"/>
                </a:solidFill>
                <a:latin typeface="Aptos" pitchFamily="34" charset="0"/>
                <a:ea typeface="Aptos" pitchFamily="34" charset="-122"/>
                <a:cs typeface="Aptos" pitchFamily="34" charset="-120"/>
              </a:rPr>
              <a:t>Render + Aiven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txBody>
          <a:bodyPr/>
          <a:lstStyle/>
          <a:p>
            <a:endParaRPr lang="en-US"/>
          </a:p>
        </p:txBody>
      </p:sp>
      <p:sp>
        <p:nvSpPr>
          <p:cNvPr id="3" name="Shape 1"/>
          <p:cNvSpPr/>
          <p:nvPr/>
        </p:nvSpPr>
        <p:spPr>
          <a:xfrm>
            <a:off x="11247120" y="347472"/>
            <a:ext cx="438912"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4" name="Shape 2"/>
          <p:cNvSpPr/>
          <p:nvPr/>
        </p:nvSpPr>
        <p:spPr>
          <a:xfrm>
            <a:off x="11411712" y="566928"/>
            <a:ext cx="512064" cy="18288"/>
          </a:xfrm>
          <a:prstGeom prst="rect">
            <a:avLst/>
          </a:prstGeom>
          <a:solidFill>
            <a:srgbClr val="8B5CF6">
              <a:alpha val="95000"/>
            </a:srgbClr>
          </a:solidFill>
          <a:ln w="12700">
            <a:solidFill>
              <a:srgbClr val="333333">
                <a:alpha val="0"/>
              </a:srgbClr>
            </a:solidFill>
            <a:prstDash val="solid"/>
          </a:ln>
        </p:spPr>
        <p:txBody>
          <a:bodyPr/>
          <a:lstStyle/>
          <a:p>
            <a:endParaRPr lang="en-US"/>
          </a:p>
        </p:txBody>
      </p:sp>
      <p:sp>
        <p:nvSpPr>
          <p:cNvPr id="5" name="Shape 3"/>
          <p:cNvSpPr/>
          <p:nvPr/>
        </p:nvSpPr>
        <p:spPr>
          <a:xfrm>
            <a:off x="11100816" y="786384"/>
            <a:ext cx="402336"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6" name="Text 4"/>
          <p:cNvSpPr/>
          <p:nvPr/>
        </p:nvSpPr>
        <p:spPr>
          <a:xfrm>
            <a:off x="566928" y="402336"/>
            <a:ext cx="4389120" cy="256032"/>
          </a:xfrm>
          <a:prstGeom prst="rect">
            <a:avLst/>
          </a:prstGeom>
          <a:noFill/>
          <a:ln/>
        </p:spPr>
        <p:txBody>
          <a:bodyPr wrap="square" lIns="0" tIns="0" rIns="0" bIns="0" rtlCol="0" anchor="ctr"/>
          <a:lstStyle/>
          <a:p>
            <a:pPr marL="0" indent="0">
              <a:buNone/>
            </a:pPr>
            <a:r>
              <a:rPr lang="en-US" sz="1150" b="1" dirty="0">
                <a:solidFill>
                  <a:srgbClr val="22D3EE"/>
                </a:solidFill>
                <a:latin typeface="Aptos" pitchFamily="34" charset="0"/>
                <a:ea typeface="Aptos" pitchFamily="34" charset="-122"/>
                <a:cs typeface="Aptos" pitchFamily="34" charset="-120"/>
              </a:rPr>
              <a:t>6 · STACK DU PROJET</a:t>
            </a:r>
            <a:endParaRPr lang="en-US" sz="1150" dirty="0"/>
          </a:p>
        </p:txBody>
      </p:sp>
      <p:sp>
        <p:nvSpPr>
          <p:cNvPr id="7" name="Text 5"/>
          <p:cNvSpPr/>
          <p:nvPr/>
        </p:nvSpPr>
        <p:spPr>
          <a:xfrm>
            <a:off x="548640" y="786384"/>
            <a:ext cx="6217920" cy="548640"/>
          </a:xfrm>
          <a:prstGeom prst="rect">
            <a:avLst/>
          </a:prstGeom>
          <a:noFill/>
          <a:ln/>
        </p:spPr>
        <p:txBody>
          <a:bodyPr wrap="square" lIns="254" tIns="254" rIns="254" bIns="254" rtlCol="0" anchor="ctr">
            <a:normAutofit/>
          </a:bodyPr>
          <a:lstStyle/>
          <a:p>
            <a:pPr marL="0" indent="0">
              <a:buNone/>
            </a:pPr>
            <a:r>
              <a:rPr lang="en-US" sz="2900" b="1" dirty="0">
                <a:solidFill>
                  <a:srgbClr val="F8FAFC"/>
                </a:solidFill>
                <a:latin typeface="Aptos Display" pitchFamily="34" charset="0"/>
                <a:ea typeface="Aptos Display" pitchFamily="34" charset="-122"/>
                <a:cs typeface="Aptos Display" pitchFamily="34" charset="-120"/>
              </a:rPr>
              <a:t>Technologies et packages utilisés</a:t>
            </a:r>
            <a:endParaRPr lang="en-US" sz="2900" dirty="0"/>
          </a:p>
        </p:txBody>
      </p:sp>
      <p:sp>
        <p:nvSpPr>
          <p:cNvPr id="8" name="Text 6"/>
          <p:cNvSpPr/>
          <p:nvPr/>
        </p:nvSpPr>
        <p:spPr>
          <a:xfrm>
            <a:off x="713232" y="1417320"/>
            <a:ext cx="2331720" cy="420624"/>
          </a:xfrm>
          <a:prstGeom prst="roundRect">
            <a:avLst/>
          </a:prstGeom>
          <a:solidFill>
            <a:srgbClr val="22D3EE"/>
          </a:solidFill>
          <a:ln w="12700">
            <a:solidFill>
              <a:srgbClr val="22D3EE"/>
            </a:solidFill>
          </a:ln>
        </p:spPr>
        <p:txBody>
          <a:bodyPr wrap="square" lIns="381" tIns="381" rIns="381" bIns="381" rtlCol="0" anchor="ctr">
            <a:normAutofit/>
          </a:bodyPr>
          <a:lstStyle/>
          <a:p>
            <a:pPr marL="0" indent="0" algn="ctr">
              <a:buNone/>
            </a:pPr>
            <a:r>
              <a:rPr lang="en-US" sz="1250" b="1" dirty="0">
                <a:solidFill>
                  <a:srgbClr val="020617"/>
                </a:solidFill>
                <a:latin typeface="Aptos" pitchFamily="34" charset="0"/>
                <a:ea typeface="Aptos" pitchFamily="34" charset="-122"/>
                <a:cs typeface="Aptos" pitchFamily="34" charset="-120"/>
              </a:rPr>
              <a:t>Java + Spring Boot</a:t>
            </a:r>
            <a:endParaRPr lang="en-US" sz="1250" dirty="0"/>
          </a:p>
        </p:txBody>
      </p:sp>
      <p:sp>
        <p:nvSpPr>
          <p:cNvPr id="9" name="Text 7"/>
          <p:cNvSpPr/>
          <p:nvPr/>
        </p:nvSpPr>
        <p:spPr>
          <a:xfrm>
            <a:off x="3346704" y="1463040"/>
            <a:ext cx="6309360" cy="329184"/>
          </a:xfrm>
          <a:prstGeom prst="rect">
            <a:avLst/>
          </a:prstGeom>
          <a:noFill/>
          <a:ln/>
        </p:spPr>
        <p:txBody>
          <a:bodyPr wrap="square" lIns="508" tIns="508" rIns="508" bIns="508" rtlCol="0" anchor="t">
            <a:normAutofit/>
          </a:bodyPr>
          <a:lstStyle/>
          <a:p>
            <a:pPr marL="0" indent="0" algn="l">
              <a:lnSpc>
                <a:spcPct val="92000"/>
              </a:lnSpc>
              <a:buNone/>
            </a:pPr>
            <a:r>
              <a:rPr lang="en-US" sz="1550" dirty="0">
                <a:solidFill>
                  <a:srgbClr val="CBD5E1"/>
                </a:solidFill>
                <a:latin typeface="Aptos" pitchFamily="34" charset="0"/>
                <a:ea typeface="Aptos" pitchFamily="34" charset="-122"/>
                <a:cs typeface="Aptos" pitchFamily="34" charset="-120"/>
              </a:rPr>
              <a:t>API, logique métier, contrôleurs et services</a:t>
            </a:r>
            <a:endParaRPr lang="en-US" sz="1550" dirty="0"/>
          </a:p>
        </p:txBody>
      </p:sp>
      <p:sp>
        <p:nvSpPr>
          <p:cNvPr id="10" name="Text 8"/>
          <p:cNvSpPr/>
          <p:nvPr/>
        </p:nvSpPr>
        <p:spPr>
          <a:xfrm>
            <a:off x="713232" y="2075688"/>
            <a:ext cx="2331720" cy="420624"/>
          </a:xfrm>
          <a:prstGeom prst="roundRect">
            <a:avLst/>
          </a:prstGeom>
          <a:solidFill>
            <a:srgbClr val="34D399"/>
          </a:solidFill>
          <a:ln w="12700">
            <a:solidFill>
              <a:srgbClr val="34D399"/>
            </a:solidFill>
          </a:ln>
        </p:spPr>
        <p:txBody>
          <a:bodyPr wrap="square" lIns="381" tIns="381" rIns="381" bIns="381" rtlCol="0" anchor="ctr">
            <a:normAutofit/>
          </a:bodyPr>
          <a:lstStyle/>
          <a:p>
            <a:pPr marL="0" indent="0" algn="ctr">
              <a:buNone/>
            </a:pPr>
            <a:r>
              <a:rPr lang="en-US" sz="1250" b="1" dirty="0">
                <a:solidFill>
                  <a:srgbClr val="020617"/>
                </a:solidFill>
                <a:latin typeface="Aptos" pitchFamily="34" charset="0"/>
                <a:ea typeface="Aptos" pitchFamily="34" charset="-122"/>
                <a:cs typeface="Aptos" pitchFamily="34" charset="-120"/>
              </a:rPr>
              <a:t>JPA</a:t>
            </a:r>
            <a:endParaRPr lang="en-US" sz="1250" dirty="0"/>
          </a:p>
        </p:txBody>
      </p:sp>
      <p:sp>
        <p:nvSpPr>
          <p:cNvPr id="11" name="Text 9"/>
          <p:cNvSpPr/>
          <p:nvPr/>
        </p:nvSpPr>
        <p:spPr>
          <a:xfrm>
            <a:off x="3346704" y="2121408"/>
            <a:ext cx="6309360" cy="329184"/>
          </a:xfrm>
          <a:prstGeom prst="rect">
            <a:avLst/>
          </a:prstGeom>
          <a:noFill/>
          <a:ln/>
        </p:spPr>
        <p:txBody>
          <a:bodyPr wrap="square" lIns="508" tIns="508" rIns="508" bIns="508" rtlCol="0" anchor="t">
            <a:normAutofit/>
          </a:bodyPr>
          <a:lstStyle/>
          <a:p>
            <a:pPr marL="0" indent="0" algn="l">
              <a:lnSpc>
                <a:spcPct val="92000"/>
              </a:lnSpc>
              <a:buNone/>
            </a:pPr>
            <a:r>
              <a:rPr lang="en-US" sz="1550" dirty="0">
                <a:solidFill>
                  <a:srgbClr val="CBD5E1"/>
                </a:solidFill>
                <a:latin typeface="Aptos" pitchFamily="34" charset="0"/>
                <a:ea typeface="Aptos" pitchFamily="34" charset="-122"/>
                <a:cs typeface="Aptos" pitchFamily="34" charset="-120"/>
              </a:rPr>
              <a:t>Persistance SQL avec PostgreSQL</a:t>
            </a:r>
            <a:endParaRPr lang="en-US" sz="1550" dirty="0"/>
          </a:p>
        </p:txBody>
      </p:sp>
      <p:sp>
        <p:nvSpPr>
          <p:cNvPr id="12" name="Text 10"/>
          <p:cNvSpPr/>
          <p:nvPr/>
        </p:nvSpPr>
        <p:spPr>
          <a:xfrm>
            <a:off x="713232" y="2734056"/>
            <a:ext cx="2331720" cy="420624"/>
          </a:xfrm>
          <a:prstGeom prst="roundRect">
            <a:avLst/>
          </a:prstGeom>
          <a:solidFill>
            <a:srgbClr val="8B5CF6"/>
          </a:solidFill>
          <a:ln w="12700">
            <a:solidFill>
              <a:srgbClr val="8B5CF6"/>
            </a:solidFill>
          </a:ln>
        </p:spPr>
        <p:txBody>
          <a:bodyPr wrap="square" lIns="381" tIns="381" rIns="381" bIns="381" rtlCol="0" anchor="ctr">
            <a:normAutofit/>
          </a:bodyPr>
          <a:lstStyle/>
          <a:p>
            <a:pPr marL="0" indent="0" algn="ctr">
              <a:buNone/>
            </a:pPr>
            <a:r>
              <a:rPr lang="en-US" sz="1250" b="1" dirty="0">
                <a:solidFill>
                  <a:srgbClr val="020617"/>
                </a:solidFill>
                <a:latin typeface="Aptos" pitchFamily="34" charset="0"/>
                <a:ea typeface="Aptos" pitchFamily="34" charset="-122"/>
                <a:cs typeface="Aptos" pitchFamily="34" charset="-120"/>
              </a:rPr>
              <a:t>Spring Data MongoDB</a:t>
            </a:r>
            <a:endParaRPr lang="en-US" sz="1250" dirty="0"/>
          </a:p>
        </p:txBody>
      </p:sp>
      <p:sp>
        <p:nvSpPr>
          <p:cNvPr id="13" name="Text 11"/>
          <p:cNvSpPr/>
          <p:nvPr/>
        </p:nvSpPr>
        <p:spPr>
          <a:xfrm>
            <a:off x="3346704" y="2779776"/>
            <a:ext cx="6309360" cy="329184"/>
          </a:xfrm>
          <a:prstGeom prst="rect">
            <a:avLst/>
          </a:prstGeom>
          <a:noFill/>
          <a:ln/>
        </p:spPr>
        <p:txBody>
          <a:bodyPr wrap="square" lIns="508" tIns="508" rIns="508" bIns="508" rtlCol="0" anchor="t">
            <a:normAutofit/>
          </a:bodyPr>
          <a:lstStyle/>
          <a:p>
            <a:pPr marL="0" indent="0" algn="l">
              <a:lnSpc>
                <a:spcPct val="92000"/>
              </a:lnSpc>
              <a:buNone/>
            </a:pPr>
            <a:r>
              <a:rPr lang="en-US" sz="1550" dirty="0">
                <a:solidFill>
                  <a:srgbClr val="CBD5E1"/>
                </a:solidFill>
                <a:latin typeface="Aptos" pitchFamily="34" charset="0"/>
                <a:ea typeface="Aptos" pitchFamily="34" charset="-122"/>
                <a:cs typeface="Aptos" pitchFamily="34" charset="-120"/>
              </a:rPr>
              <a:t>Collections et données NoSQL</a:t>
            </a:r>
            <a:endParaRPr lang="en-US" sz="1550" dirty="0"/>
          </a:p>
        </p:txBody>
      </p:sp>
      <p:sp>
        <p:nvSpPr>
          <p:cNvPr id="14" name="Text 12"/>
          <p:cNvSpPr/>
          <p:nvPr/>
        </p:nvSpPr>
        <p:spPr>
          <a:xfrm>
            <a:off x="713232" y="3392424"/>
            <a:ext cx="2331720" cy="420624"/>
          </a:xfrm>
          <a:prstGeom prst="roundRect">
            <a:avLst/>
          </a:prstGeom>
          <a:solidFill>
            <a:srgbClr val="3B82F6"/>
          </a:solidFill>
          <a:ln w="12700">
            <a:solidFill>
              <a:srgbClr val="3B82F6"/>
            </a:solidFill>
          </a:ln>
        </p:spPr>
        <p:txBody>
          <a:bodyPr wrap="square" lIns="381" tIns="381" rIns="381" bIns="381" rtlCol="0" anchor="ctr">
            <a:normAutofit/>
          </a:bodyPr>
          <a:lstStyle/>
          <a:p>
            <a:pPr marL="0" indent="0" algn="ctr">
              <a:buNone/>
            </a:pPr>
            <a:r>
              <a:rPr lang="en-US" sz="1250" b="1" dirty="0">
                <a:solidFill>
                  <a:srgbClr val="020617"/>
                </a:solidFill>
                <a:latin typeface="Aptos" pitchFamily="34" charset="0"/>
                <a:ea typeface="Aptos" pitchFamily="34" charset="-122"/>
                <a:cs typeface="Aptos" pitchFamily="34" charset="-120"/>
              </a:rPr>
              <a:t>Next.js + React</a:t>
            </a:r>
            <a:endParaRPr lang="en-US" sz="1250" dirty="0"/>
          </a:p>
        </p:txBody>
      </p:sp>
      <p:sp>
        <p:nvSpPr>
          <p:cNvPr id="15" name="Text 13"/>
          <p:cNvSpPr/>
          <p:nvPr/>
        </p:nvSpPr>
        <p:spPr>
          <a:xfrm>
            <a:off x="3346704" y="3438144"/>
            <a:ext cx="6309360" cy="329184"/>
          </a:xfrm>
          <a:prstGeom prst="rect">
            <a:avLst/>
          </a:prstGeom>
          <a:noFill/>
          <a:ln/>
        </p:spPr>
        <p:txBody>
          <a:bodyPr wrap="square" lIns="508" tIns="508" rIns="508" bIns="508" rtlCol="0" anchor="t">
            <a:normAutofit/>
          </a:bodyPr>
          <a:lstStyle/>
          <a:p>
            <a:pPr marL="0" indent="0" algn="l">
              <a:lnSpc>
                <a:spcPct val="92000"/>
              </a:lnSpc>
              <a:buNone/>
            </a:pPr>
            <a:r>
              <a:rPr lang="en-US" sz="1550" dirty="0">
                <a:solidFill>
                  <a:srgbClr val="CBD5E1"/>
                </a:solidFill>
                <a:latin typeface="Aptos" pitchFamily="34" charset="0"/>
                <a:ea typeface="Aptos" pitchFamily="34" charset="-122"/>
                <a:cs typeface="Aptos" pitchFamily="34" charset="-120"/>
              </a:rPr>
              <a:t>Interface web, routing et pages</a:t>
            </a:r>
            <a:endParaRPr lang="en-US" sz="1550" dirty="0"/>
          </a:p>
        </p:txBody>
      </p:sp>
      <p:sp>
        <p:nvSpPr>
          <p:cNvPr id="16" name="Text 14"/>
          <p:cNvSpPr/>
          <p:nvPr/>
        </p:nvSpPr>
        <p:spPr>
          <a:xfrm>
            <a:off x="713232" y="4050792"/>
            <a:ext cx="2331720" cy="420624"/>
          </a:xfrm>
          <a:prstGeom prst="roundRect">
            <a:avLst/>
          </a:prstGeom>
          <a:solidFill>
            <a:srgbClr val="F59E0B"/>
          </a:solidFill>
          <a:ln w="12700">
            <a:solidFill>
              <a:srgbClr val="F59E0B"/>
            </a:solidFill>
          </a:ln>
        </p:spPr>
        <p:txBody>
          <a:bodyPr wrap="square" lIns="381" tIns="381" rIns="381" bIns="381" rtlCol="0" anchor="ctr">
            <a:normAutofit/>
          </a:bodyPr>
          <a:lstStyle/>
          <a:p>
            <a:pPr marL="0" indent="0" algn="ctr">
              <a:buNone/>
            </a:pPr>
            <a:r>
              <a:rPr lang="en-US" sz="1250" b="1" dirty="0">
                <a:solidFill>
                  <a:srgbClr val="020617"/>
                </a:solidFill>
                <a:latin typeface="Aptos" pitchFamily="34" charset="0"/>
                <a:ea typeface="Aptos" pitchFamily="34" charset="-122"/>
                <a:cs typeface="Aptos" pitchFamily="34" charset="-120"/>
              </a:rPr>
              <a:t>Tailwind / shadcn/ui</a:t>
            </a:r>
            <a:endParaRPr lang="en-US" sz="1250" dirty="0"/>
          </a:p>
        </p:txBody>
      </p:sp>
      <p:sp>
        <p:nvSpPr>
          <p:cNvPr id="17" name="Text 15"/>
          <p:cNvSpPr/>
          <p:nvPr/>
        </p:nvSpPr>
        <p:spPr>
          <a:xfrm>
            <a:off x="3346704" y="4096512"/>
            <a:ext cx="6309360" cy="329184"/>
          </a:xfrm>
          <a:prstGeom prst="rect">
            <a:avLst/>
          </a:prstGeom>
          <a:noFill/>
          <a:ln/>
        </p:spPr>
        <p:txBody>
          <a:bodyPr wrap="square" lIns="508" tIns="508" rIns="508" bIns="508" rtlCol="0" anchor="t">
            <a:normAutofit/>
          </a:bodyPr>
          <a:lstStyle/>
          <a:p>
            <a:pPr marL="0" indent="0" algn="l">
              <a:lnSpc>
                <a:spcPct val="92000"/>
              </a:lnSpc>
              <a:buNone/>
            </a:pPr>
            <a:r>
              <a:rPr lang="en-US" sz="1550" dirty="0">
                <a:solidFill>
                  <a:srgbClr val="CBD5E1"/>
                </a:solidFill>
                <a:latin typeface="Aptos" pitchFamily="34" charset="0"/>
                <a:ea typeface="Aptos" pitchFamily="34" charset="-122"/>
                <a:cs typeface="Aptos" pitchFamily="34" charset="-120"/>
              </a:rPr>
              <a:t>Mise en page et composants visuels</a:t>
            </a:r>
            <a:endParaRPr lang="en-US" sz="1550" dirty="0"/>
          </a:p>
        </p:txBody>
      </p:sp>
      <p:sp>
        <p:nvSpPr>
          <p:cNvPr id="18" name="Text 16"/>
          <p:cNvSpPr/>
          <p:nvPr/>
        </p:nvSpPr>
        <p:spPr>
          <a:xfrm>
            <a:off x="713232" y="4709160"/>
            <a:ext cx="2331720" cy="420624"/>
          </a:xfrm>
          <a:prstGeom prst="roundRect">
            <a:avLst/>
          </a:prstGeom>
          <a:solidFill>
            <a:srgbClr val="111A2E"/>
          </a:solidFill>
          <a:ln w="12700">
            <a:solidFill>
              <a:srgbClr val="CBD5E1"/>
            </a:solidFill>
          </a:ln>
        </p:spPr>
        <p:txBody>
          <a:bodyPr wrap="square" lIns="381" tIns="381" rIns="381" bIns="381" rtlCol="0" anchor="ctr">
            <a:normAutofit/>
          </a:bodyPr>
          <a:lstStyle/>
          <a:p>
            <a:pPr marL="0" indent="0" algn="ctr">
              <a:buNone/>
            </a:pPr>
            <a:r>
              <a:rPr lang="en-US" sz="1250" b="1" dirty="0">
                <a:solidFill>
                  <a:srgbClr val="F8FAFC"/>
                </a:solidFill>
                <a:latin typeface="Aptos" pitchFamily="34" charset="0"/>
                <a:ea typeface="Aptos" pitchFamily="34" charset="-122"/>
                <a:cs typeface="Aptos" pitchFamily="34" charset="-120"/>
              </a:rPr>
              <a:t>Postman · JUnit · GitHub</a:t>
            </a:r>
            <a:endParaRPr lang="en-US" sz="1250" dirty="0"/>
          </a:p>
        </p:txBody>
      </p:sp>
      <p:sp>
        <p:nvSpPr>
          <p:cNvPr id="19" name="Text 17"/>
          <p:cNvSpPr/>
          <p:nvPr/>
        </p:nvSpPr>
        <p:spPr>
          <a:xfrm>
            <a:off x="3346704" y="4754880"/>
            <a:ext cx="6309360" cy="329184"/>
          </a:xfrm>
          <a:prstGeom prst="rect">
            <a:avLst/>
          </a:prstGeom>
          <a:noFill/>
          <a:ln/>
        </p:spPr>
        <p:txBody>
          <a:bodyPr wrap="square" lIns="508" tIns="508" rIns="508" bIns="508" rtlCol="0" anchor="t">
            <a:normAutofit/>
          </a:bodyPr>
          <a:lstStyle/>
          <a:p>
            <a:pPr marL="0" indent="0" algn="l">
              <a:lnSpc>
                <a:spcPct val="92000"/>
              </a:lnSpc>
              <a:buNone/>
            </a:pPr>
            <a:r>
              <a:rPr lang="en-US" sz="1550" dirty="0">
                <a:solidFill>
                  <a:srgbClr val="CBD5E1"/>
                </a:solidFill>
                <a:latin typeface="Aptos" pitchFamily="34" charset="0"/>
                <a:ea typeface="Aptos" pitchFamily="34" charset="-122"/>
                <a:cs typeface="Aptos" pitchFamily="34" charset="-120"/>
              </a:rPr>
              <a:t>Tests, validation, branches et pull requests</a:t>
            </a:r>
            <a:endParaRPr lang="en-US" sz="1550" dirty="0"/>
          </a:p>
        </p:txBody>
      </p:sp>
      <p:sp>
        <p:nvSpPr>
          <p:cNvPr id="20" name="Text 18"/>
          <p:cNvSpPr/>
          <p:nvPr/>
        </p:nvSpPr>
        <p:spPr>
          <a:xfrm>
            <a:off x="749808" y="5650992"/>
            <a:ext cx="9601200" cy="384048"/>
          </a:xfrm>
          <a:prstGeom prst="rect">
            <a:avLst/>
          </a:prstGeom>
          <a:noFill/>
          <a:ln/>
        </p:spPr>
        <p:txBody>
          <a:bodyPr wrap="square" lIns="508" tIns="508" rIns="508" bIns="508" rtlCol="0" anchor="t">
            <a:normAutofit/>
          </a:bodyPr>
          <a:lstStyle/>
          <a:p>
            <a:pPr marL="0" indent="0" algn="l">
              <a:lnSpc>
                <a:spcPct val="92000"/>
              </a:lnSpc>
              <a:buNone/>
            </a:pPr>
            <a:r>
              <a:rPr lang="en-US" sz="1750" b="1" dirty="0">
                <a:solidFill>
                  <a:srgbClr val="F8FAFC"/>
                </a:solidFill>
                <a:latin typeface="Aptos" pitchFamily="34" charset="0"/>
                <a:ea typeface="Aptos" pitchFamily="34" charset="-122"/>
                <a:cs typeface="Aptos" pitchFamily="34" charset="-120"/>
              </a:rPr>
              <a:t>Choix principal : rester dans un environnement Java / Web déjà connu, mais plus professionnel.</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79096" y="-14416"/>
            <a:ext cx="12191695" cy="6858000"/>
          </a:xfrm>
          <a:prstGeom prst="rect">
            <a:avLst/>
          </a:prstGeom>
          <a:solidFill>
            <a:srgbClr val="0B1020"/>
          </a:solidFill>
          <a:ln w="12700">
            <a:solidFill>
              <a:srgbClr val="0B1020">
                <a:alpha val="0"/>
              </a:srgbClr>
            </a:solidFill>
            <a:prstDash val="solid"/>
          </a:ln>
        </p:spPr>
        <p:txBody>
          <a:bodyPr/>
          <a:lstStyle/>
          <a:p>
            <a:endParaRPr lang="en-US"/>
          </a:p>
        </p:txBody>
      </p:sp>
      <p:sp>
        <p:nvSpPr>
          <p:cNvPr id="3" name="Shape 1"/>
          <p:cNvSpPr/>
          <p:nvPr/>
        </p:nvSpPr>
        <p:spPr>
          <a:xfrm>
            <a:off x="11247120" y="347472"/>
            <a:ext cx="438912"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4" name="Shape 2"/>
          <p:cNvSpPr/>
          <p:nvPr/>
        </p:nvSpPr>
        <p:spPr>
          <a:xfrm>
            <a:off x="11411712" y="566928"/>
            <a:ext cx="512064" cy="18288"/>
          </a:xfrm>
          <a:prstGeom prst="rect">
            <a:avLst/>
          </a:prstGeom>
          <a:solidFill>
            <a:srgbClr val="8B5CF6">
              <a:alpha val="95000"/>
            </a:srgbClr>
          </a:solidFill>
          <a:ln w="12700">
            <a:solidFill>
              <a:srgbClr val="333333">
                <a:alpha val="0"/>
              </a:srgbClr>
            </a:solidFill>
            <a:prstDash val="solid"/>
          </a:ln>
        </p:spPr>
        <p:txBody>
          <a:bodyPr/>
          <a:lstStyle/>
          <a:p>
            <a:endParaRPr lang="en-US"/>
          </a:p>
        </p:txBody>
      </p:sp>
      <p:sp>
        <p:nvSpPr>
          <p:cNvPr id="5" name="Shape 3"/>
          <p:cNvSpPr/>
          <p:nvPr/>
        </p:nvSpPr>
        <p:spPr>
          <a:xfrm>
            <a:off x="11100816" y="786384"/>
            <a:ext cx="402336"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6" name="Text 4"/>
          <p:cNvSpPr/>
          <p:nvPr/>
        </p:nvSpPr>
        <p:spPr>
          <a:xfrm>
            <a:off x="566928" y="402336"/>
            <a:ext cx="4389120" cy="256032"/>
          </a:xfrm>
          <a:prstGeom prst="rect">
            <a:avLst/>
          </a:prstGeom>
          <a:noFill/>
          <a:ln/>
        </p:spPr>
        <p:txBody>
          <a:bodyPr wrap="square" lIns="0" tIns="0" rIns="0" bIns="0" rtlCol="0" anchor="ctr"/>
          <a:lstStyle/>
          <a:p>
            <a:pPr marL="0" indent="0">
              <a:buNone/>
            </a:pPr>
            <a:r>
              <a:rPr lang="en-US" sz="1150" b="1" dirty="0">
                <a:solidFill>
                  <a:srgbClr val="22D3EE"/>
                </a:solidFill>
                <a:latin typeface="Aptos" pitchFamily="34" charset="0"/>
                <a:ea typeface="Aptos" pitchFamily="34" charset="-122"/>
                <a:cs typeface="Aptos" pitchFamily="34" charset="-120"/>
              </a:rPr>
              <a:t>7 · DONNÉES PRINCIPALES</a:t>
            </a:r>
            <a:endParaRPr lang="en-US" sz="1150" dirty="0"/>
          </a:p>
        </p:txBody>
      </p:sp>
      <p:sp>
        <p:nvSpPr>
          <p:cNvPr id="7" name="Text 5"/>
          <p:cNvSpPr/>
          <p:nvPr/>
        </p:nvSpPr>
        <p:spPr>
          <a:xfrm>
            <a:off x="548640" y="786384"/>
            <a:ext cx="6217920" cy="548640"/>
          </a:xfrm>
          <a:prstGeom prst="rect">
            <a:avLst/>
          </a:prstGeom>
          <a:noFill/>
          <a:ln/>
        </p:spPr>
        <p:txBody>
          <a:bodyPr wrap="square" lIns="254" tIns="254" rIns="254" bIns="254" rtlCol="0" anchor="ctr">
            <a:normAutofit/>
          </a:bodyPr>
          <a:lstStyle/>
          <a:p>
            <a:pPr marL="0" indent="0">
              <a:buNone/>
            </a:pPr>
            <a:r>
              <a:rPr lang="en-US" sz="2900" b="1" dirty="0">
                <a:solidFill>
                  <a:srgbClr val="F8FAFC"/>
                </a:solidFill>
                <a:latin typeface="Aptos Display" pitchFamily="34" charset="0"/>
                <a:ea typeface="Aptos Display" pitchFamily="34" charset="-122"/>
                <a:cs typeface="Aptos Display" pitchFamily="34" charset="-120"/>
              </a:rPr>
              <a:t>Modèle de données simplifié</a:t>
            </a:r>
            <a:endParaRPr lang="en-US" sz="2900" dirty="0"/>
          </a:p>
        </p:txBody>
      </p:sp>
      <p:sp>
        <p:nvSpPr>
          <p:cNvPr id="8" name="Text 6"/>
          <p:cNvSpPr/>
          <p:nvPr/>
        </p:nvSpPr>
        <p:spPr>
          <a:xfrm>
            <a:off x="594360" y="1417320"/>
            <a:ext cx="6400800" cy="347472"/>
          </a:xfrm>
          <a:prstGeom prst="rect">
            <a:avLst/>
          </a:prstGeom>
          <a:noFill/>
          <a:ln/>
        </p:spPr>
        <p:txBody>
          <a:bodyPr wrap="square" lIns="508" tIns="508" rIns="508" bIns="508" rtlCol="0" anchor="t">
            <a:normAutofit/>
          </a:bodyPr>
          <a:lstStyle/>
          <a:p>
            <a:pPr marL="0" indent="0" algn="l">
              <a:lnSpc>
                <a:spcPct val="92000"/>
              </a:lnSpc>
              <a:buNone/>
            </a:pPr>
            <a:r>
              <a:rPr lang="en-US" sz="1800" dirty="0">
                <a:solidFill>
                  <a:srgbClr val="CBD5E1"/>
                </a:solidFill>
                <a:latin typeface="Aptos" pitchFamily="34" charset="0"/>
                <a:ea typeface="Aptos" pitchFamily="34" charset="-122"/>
                <a:cs typeface="Aptos" pitchFamily="34" charset="-120"/>
              </a:rPr>
              <a:t>Le modèle tourne autour de l’étudiant, son horaire et ses groupes.</a:t>
            </a:r>
            <a:endParaRPr lang="en-US" sz="1800" dirty="0"/>
          </a:p>
        </p:txBody>
      </p:sp>
      <p:sp>
        <p:nvSpPr>
          <p:cNvPr id="9" name="Shape 7"/>
          <p:cNvSpPr/>
          <p:nvPr/>
        </p:nvSpPr>
        <p:spPr>
          <a:xfrm>
            <a:off x="2880360" y="2743200"/>
            <a:ext cx="1371600" cy="0"/>
          </a:xfrm>
          <a:prstGeom prst="line">
            <a:avLst/>
          </a:prstGeom>
          <a:noFill/>
          <a:ln w="15240">
            <a:solidFill>
              <a:srgbClr val="334155"/>
            </a:solidFill>
            <a:prstDash val="solid"/>
            <a:headEnd type="none"/>
            <a:tailEnd type="triangle"/>
          </a:ln>
        </p:spPr>
        <p:txBody>
          <a:bodyPr/>
          <a:lstStyle/>
          <a:p>
            <a:endParaRPr lang="en-US"/>
          </a:p>
        </p:txBody>
      </p:sp>
      <p:sp>
        <p:nvSpPr>
          <p:cNvPr id="10" name="Shape 8"/>
          <p:cNvSpPr/>
          <p:nvPr/>
        </p:nvSpPr>
        <p:spPr>
          <a:xfrm>
            <a:off x="6016752" y="2743200"/>
            <a:ext cx="1344168" cy="0"/>
          </a:xfrm>
          <a:prstGeom prst="line">
            <a:avLst/>
          </a:prstGeom>
          <a:noFill/>
          <a:ln w="15240">
            <a:solidFill>
              <a:srgbClr val="334155"/>
            </a:solidFill>
            <a:prstDash val="solid"/>
            <a:headEnd type="none"/>
            <a:tailEnd type="triangle"/>
          </a:ln>
        </p:spPr>
        <p:txBody>
          <a:bodyPr/>
          <a:lstStyle/>
          <a:p>
            <a:endParaRPr lang="en-US"/>
          </a:p>
        </p:txBody>
      </p:sp>
      <p:sp>
        <p:nvSpPr>
          <p:cNvPr id="12" name="Shape 10"/>
          <p:cNvSpPr/>
          <p:nvPr/>
        </p:nvSpPr>
        <p:spPr>
          <a:xfrm>
            <a:off x="6016752" y="3657600"/>
            <a:ext cx="1344168" cy="502920"/>
          </a:xfrm>
          <a:prstGeom prst="line">
            <a:avLst/>
          </a:prstGeom>
          <a:noFill/>
          <a:ln w="15240">
            <a:solidFill>
              <a:srgbClr val="334155"/>
            </a:solidFill>
            <a:prstDash val="solid"/>
            <a:headEnd type="none"/>
            <a:tailEnd type="triangle"/>
          </a:ln>
        </p:spPr>
        <p:txBody>
          <a:bodyPr/>
          <a:lstStyle/>
          <a:p>
            <a:endParaRPr lang="en-US"/>
          </a:p>
        </p:txBody>
      </p:sp>
      <p:sp>
        <p:nvSpPr>
          <p:cNvPr id="13" name="Shape 11"/>
          <p:cNvSpPr/>
          <p:nvPr/>
        </p:nvSpPr>
        <p:spPr>
          <a:xfrm>
            <a:off x="2880360" y="2798064"/>
            <a:ext cx="1396643" cy="979520"/>
          </a:xfrm>
          <a:prstGeom prst="line">
            <a:avLst/>
          </a:prstGeom>
          <a:noFill/>
          <a:ln w="15240">
            <a:solidFill>
              <a:srgbClr val="334155"/>
            </a:solidFill>
            <a:prstDash val="solid"/>
            <a:headEnd type="none"/>
            <a:tailEnd type="triangle"/>
          </a:ln>
        </p:spPr>
        <p:txBody>
          <a:bodyPr/>
          <a:lstStyle/>
          <a:p>
            <a:endParaRPr lang="en-US"/>
          </a:p>
        </p:txBody>
      </p:sp>
      <p:sp>
        <p:nvSpPr>
          <p:cNvPr id="14" name="Text 12"/>
          <p:cNvSpPr/>
          <p:nvPr/>
        </p:nvSpPr>
        <p:spPr>
          <a:xfrm>
            <a:off x="914400" y="2395728"/>
            <a:ext cx="1965960" cy="731520"/>
          </a:xfrm>
          <a:prstGeom prst="roundRect">
            <a:avLst/>
          </a:prstGeom>
          <a:solidFill>
            <a:srgbClr val="3B82F6"/>
          </a:solidFill>
          <a:ln w="15875">
            <a:solidFill>
              <a:srgbClr val="3B82F6"/>
            </a:solidFill>
          </a:ln>
        </p:spPr>
        <p:txBody>
          <a:bodyPr wrap="square" lIns="635" tIns="635" rIns="635" bIns="635" rtlCol="0" anchor="ctr">
            <a:normAutofit/>
          </a:bodyPr>
          <a:lstStyle/>
          <a:p>
            <a:pPr marL="0" indent="0" algn="ctr">
              <a:buNone/>
            </a:pPr>
            <a:r>
              <a:rPr lang="en-US" sz="1600" b="1" dirty="0">
                <a:solidFill>
                  <a:srgbClr val="020617"/>
                </a:solidFill>
                <a:latin typeface="Aptos" pitchFamily="34" charset="0"/>
                <a:ea typeface="Aptos" pitchFamily="34" charset="-122"/>
                <a:cs typeface="Aptos" pitchFamily="34" charset="-120"/>
              </a:rPr>
              <a:t>Étudiant</a:t>
            </a:r>
            <a:endParaRPr lang="en-US" sz="1600" dirty="0"/>
          </a:p>
        </p:txBody>
      </p:sp>
      <p:sp>
        <p:nvSpPr>
          <p:cNvPr id="15" name="Text 13"/>
          <p:cNvSpPr/>
          <p:nvPr/>
        </p:nvSpPr>
        <p:spPr>
          <a:xfrm>
            <a:off x="4251960" y="2395728"/>
            <a:ext cx="1755648" cy="731520"/>
          </a:xfrm>
          <a:prstGeom prst="roundRect">
            <a:avLst/>
          </a:prstGeom>
          <a:solidFill>
            <a:srgbClr val="34D399"/>
          </a:solidFill>
          <a:ln w="15875">
            <a:solidFill>
              <a:srgbClr val="34D399"/>
            </a:solidFill>
          </a:ln>
        </p:spPr>
        <p:txBody>
          <a:bodyPr wrap="square" lIns="635" tIns="635" rIns="635" bIns="635" rtlCol="0" anchor="ctr">
            <a:normAutofit/>
          </a:bodyPr>
          <a:lstStyle/>
          <a:p>
            <a:pPr marL="0" indent="0" algn="ctr">
              <a:buNone/>
            </a:pPr>
            <a:r>
              <a:rPr lang="en-US" sz="1600" b="1" dirty="0">
                <a:solidFill>
                  <a:srgbClr val="020617"/>
                </a:solidFill>
                <a:latin typeface="Aptos" pitchFamily="34" charset="0"/>
                <a:ea typeface="Aptos" pitchFamily="34" charset="-122"/>
                <a:cs typeface="Aptos" pitchFamily="34" charset="-120"/>
              </a:rPr>
              <a:t>Horaire</a:t>
            </a:r>
            <a:endParaRPr lang="en-US" sz="1600" dirty="0"/>
          </a:p>
        </p:txBody>
      </p:sp>
      <p:sp>
        <p:nvSpPr>
          <p:cNvPr id="16" name="Text 14"/>
          <p:cNvSpPr/>
          <p:nvPr/>
        </p:nvSpPr>
        <p:spPr>
          <a:xfrm>
            <a:off x="7360920" y="2395728"/>
            <a:ext cx="1755648" cy="731520"/>
          </a:xfrm>
          <a:prstGeom prst="roundRect">
            <a:avLst/>
          </a:prstGeom>
          <a:solidFill>
            <a:srgbClr val="22D3EE"/>
          </a:solidFill>
          <a:ln w="15875">
            <a:solidFill>
              <a:srgbClr val="22D3EE"/>
            </a:solidFill>
          </a:ln>
        </p:spPr>
        <p:txBody>
          <a:bodyPr wrap="square" lIns="635" tIns="635" rIns="635" bIns="635" rtlCol="0" anchor="ctr">
            <a:normAutofit/>
          </a:bodyPr>
          <a:lstStyle/>
          <a:p>
            <a:pPr marL="0" indent="0" algn="ctr">
              <a:buNone/>
            </a:pPr>
            <a:r>
              <a:rPr lang="en-US" sz="1600" b="1" dirty="0">
                <a:solidFill>
                  <a:srgbClr val="020617"/>
                </a:solidFill>
                <a:latin typeface="Aptos" pitchFamily="34" charset="0"/>
                <a:ea typeface="Aptos" pitchFamily="34" charset="-122"/>
                <a:cs typeface="Aptos" pitchFamily="34" charset="-120"/>
              </a:rPr>
              <a:t>Activité</a:t>
            </a:r>
            <a:endParaRPr lang="en-US" sz="1600" dirty="0"/>
          </a:p>
        </p:txBody>
      </p:sp>
      <p:sp>
        <p:nvSpPr>
          <p:cNvPr id="17" name="Text 15"/>
          <p:cNvSpPr/>
          <p:nvPr/>
        </p:nvSpPr>
        <p:spPr>
          <a:xfrm>
            <a:off x="4251960" y="3337560"/>
            <a:ext cx="1755648" cy="731520"/>
          </a:xfrm>
          <a:prstGeom prst="roundRect">
            <a:avLst/>
          </a:prstGeom>
          <a:solidFill>
            <a:srgbClr val="8B5CF6"/>
          </a:solidFill>
          <a:ln w="15875">
            <a:solidFill>
              <a:srgbClr val="8B5CF6"/>
            </a:solidFill>
          </a:ln>
        </p:spPr>
        <p:txBody>
          <a:bodyPr wrap="square" lIns="635" tIns="635" rIns="635" bIns="635" rtlCol="0" anchor="ctr">
            <a:normAutofit/>
          </a:bodyPr>
          <a:lstStyle/>
          <a:p>
            <a:pPr marL="0" indent="0" algn="ctr">
              <a:buNone/>
            </a:pPr>
            <a:r>
              <a:rPr lang="en-US" sz="1600" b="1" dirty="0">
                <a:solidFill>
                  <a:srgbClr val="020617"/>
                </a:solidFill>
                <a:latin typeface="Aptos" pitchFamily="34" charset="0"/>
                <a:ea typeface="Aptos" pitchFamily="34" charset="-122"/>
                <a:cs typeface="Aptos" pitchFamily="34" charset="-120"/>
              </a:rPr>
              <a:t>Groupe</a:t>
            </a:r>
            <a:endParaRPr lang="en-US" sz="1600" dirty="0"/>
          </a:p>
        </p:txBody>
      </p:sp>
      <p:sp>
        <p:nvSpPr>
          <p:cNvPr id="18" name="Text 16"/>
          <p:cNvSpPr/>
          <p:nvPr/>
        </p:nvSpPr>
        <p:spPr>
          <a:xfrm>
            <a:off x="7360920" y="3822192"/>
            <a:ext cx="1755648" cy="822960"/>
          </a:xfrm>
          <a:prstGeom prst="roundRect">
            <a:avLst/>
          </a:prstGeom>
          <a:solidFill>
            <a:srgbClr val="F59E0B"/>
          </a:solidFill>
          <a:ln w="15875">
            <a:solidFill>
              <a:srgbClr val="F59E0B"/>
            </a:solidFill>
          </a:ln>
        </p:spPr>
        <p:txBody>
          <a:bodyPr wrap="square" lIns="635" tIns="635" rIns="635" bIns="635" rtlCol="0" anchor="ctr">
            <a:normAutofit/>
          </a:bodyPr>
          <a:lstStyle/>
          <a:p>
            <a:pPr marL="0" indent="0" algn="ctr">
              <a:buNone/>
            </a:pPr>
            <a:r>
              <a:rPr lang="en-US" sz="1400" b="1" dirty="0">
                <a:solidFill>
                  <a:srgbClr val="020617"/>
                </a:solidFill>
                <a:latin typeface="Aptos" pitchFamily="34" charset="0"/>
                <a:ea typeface="Aptos" pitchFamily="34" charset="-122"/>
                <a:cs typeface="Aptos" pitchFamily="34" charset="-120"/>
              </a:rPr>
              <a:t>Notification</a:t>
            </a:r>
            <a:endParaRPr lang="en-US" sz="1400" dirty="0"/>
          </a:p>
          <a:p>
            <a:pPr marL="0" indent="0" algn="ctr">
              <a:buNone/>
            </a:pPr>
            <a:r>
              <a:rPr lang="en-US" sz="1400" b="1" dirty="0">
                <a:solidFill>
                  <a:srgbClr val="020617"/>
                </a:solidFill>
                <a:latin typeface="Aptos" pitchFamily="34" charset="0"/>
                <a:ea typeface="Aptos" pitchFamily="34" charset="-122"/>
                <a:cs typeface="Aptos" pitchFamily="34" charset="-120"/>
              </a:rPr>
              <a:t>Invitation</a:t>
            </a:r>
            <a:endParaRPr lang="en-US" sz="1400" dirty="0"/>
          </a:p>
        </p:txBody>
      </p:sp>
      <p:sp>
        <p:nvSpPr>
          <p:cNvPr id="19" name="Text 17"/>
          <p:cNvSpPr/>
          <p:nvPr/>
        </p:nvSpPr>
        <p:spPr>
          <a:xfrm>
            <a:off x="9418320" y="2240280"/>
            <a:ext cx="2103120" cy="274320"/>
          </a:xfrm>
          <a:prstGeom prst="rect">
            <a:avLst/>
          </a:prstGeom>
          <a:noFill/>
          <a:ln/>
        </p:spPr>
        <p:txBody>
          <a:bodyPr wrap="square" lIns="508" tIns="508" rIns="508" bIns="508" rtlCol="0" anchor="t">
            <a:normAutofit/>
          </a:bodyPr>
          <a:lstStyle/>
          <a:p>
            <a:pPr marL="0" indent="0" algn="l">
              <a:lnSpc>
                <a:spcPct val="92000"/>
              </a:lnSpc>
              <a:buNone/>
            </a:pPr>
            <a:r>
              <a:rPr lang="en-US" sz="1500" b="1" dirty="0">
                <a:solidFill>
                  <a:srgbClr val="22D3EE"/>
                </a:solidFill>
                <a:latin typeface="Aptos" pitchFamily="34" charset="0"/>
                <a:ea typeface="Aptos" pitchFamily="34" charset="-122"/>
                <a:cs typeface="Aptos" pitchFamily="34" charset="-120"/>
              </a:rPr>
              <a:t>Relations importantes</a:t>
            </a:r>
            <a:endParaRPr lang="en-US" sz="1500" dirty="0"/>
          </a:p>
        </p:txBody>
      </p:sp>
      <p:sp>
        <p:nvSpPr>
          <p:cNvPr id="20" name="Text 18"/>
          <p:cNvSpPr/>
          <p:nvPr/>
        </p:nvSpPr>
        <p:spPr>
          <a:xfrm>
            <a:off x="9418320" y="2670048"/>
            <a:ext cx="2240280" cy="1645920"/>
          </a:xfrm>
          <a:prstGeom prst="rect">
            <a:avLst/>
          </a:prstGeom>
          <a:noFill/>
          <a:ln/>
        </p:spPr>
        <p:txBody>
          <a:bodyPr wrap="square" lIns="254" tIns="254" rIns="254" bIns="254" rtlCol="0" anchor="ctr">
            <a:normAutofit/>
          </a:bodyPr>
          <a:lstStyle/>
          <a:p>
            <a:pPr marL="0" indent="0">
              <a:lnSpc>
                <a:spcPct val="92000"/>
              </a:lnSpc>
              <a:buNone/>
            </a:pPr>
            <a:r>
              <a:rPr lang="en-US" sz="1350" b="1" dirty="0">
                <a:solidFill>
                  <a:srgbClr val="F8FAFC"/>
                </a:solidFill>
                <a:latin typeface="Aptos" pitchFamily="34" charset="0"/>
                <a:ea typeface="Aptos" pitchFamily="34" charset="-122"/>
                <a:cs typeface="Aptos" pitchFamily="34" charset="-120"/>
              </a:rPr>
              <a:t>Étudiant</a:t>
            </a:r>
            <a:r>
              <a:rPr lang="en-US" sz="1350" dirty="0">
                <a:solidFill>
                  <a:srgbClr val="CBD5E1"/>
                </a:solidFill>
                <a:latin typeface="Aptos" pitchFamily="34" charset="0"/>
                <a:ea typeface="Aptos" pitchFamily="34" charset="-122"/>
                <a:cs typeface="Aptos" pitchFamily="34" charset="-120"/>
              </a:rPr>
              <a:t> possède un horaire
</a:t>
            </a:r>
            <a:r>
              <a:rPr lang="en-US" sz="1350" b="1" dirty="0">
                <a:solidFill>
                  <a:srgbClr val="F8FAFC"/>
                </a:solidFill>
                <a:latin typeface="Aptos" pitchFamily="34" charset="0"/>
                <a:ea typeface="Aptos" pitchFamily="34" charset="-122"/>
                <a:cs typeface="Aptos" pitchFamily="34" charset="-120"/>
              </a:rPr>
              <a:t>Groupe</a:t>
            </a:r>
            <a:r>
              <a:rPr lang="en-US" sz="1350" dirty="0">
                <a:solidFill>
                  <a:srgbClr val="CBD5E1"/>
                </a:solidFill>
                <a:latin typeface="Aptos" pitchFamily="34" charset="0"/>
                <a:ea typeface="Aptos" pitchFamily="34" charset="-122"/>
                <a:cs typeface="Aptos" pitchFamily="34" charset="-120"/>
              </a:rPr>
              <a:t> contient plusieurs étudiants
</a:t>
            </a:r>
            <a:r>
              <a:rPr lang="en-US" sz="1350" b="1" dirty="0">
                <a:solidFill>
                  <a:srgbClr val="F8FAFC"/>
                </a:solidFill>
                <a:latin typeface="Aptos" pitchFamily="34" charset="0"/>
                <a:ea typeface="Aptos" pitchFamily="34" charset="-122"/>
                <a:cs typeface="Aptos" pitchFamily="34" charset="-120"/>
              </a:rPr>
              <a:t>Horaire</a:t>
            </a:r>
            <a:r>
              <a:rPr lang="en-US" sz="1350" dirty="0">
                <a:solidFill>
                  <a:srgbClr val="CBD5E1"/>
                </a:solidFill>
                <a:latin typeface="Aptos" pitchFamily="34" charset="0"/>
                <a:ea typeface="Aptos" pitchFamily="34" charset="-122"/>
                <a:cs typeface="Aptos" pitchFamily="34" charset="-120"/>
              </a:rPr>
              <a:t> contient des activités
</a:t>
            </a:r>
            <a:r>
              <a:rPr lang="en-US" sz="1350" b="1" dirty="0">
                <a:solidFill>
                  <a:srgbClr val="F8FAFC"/>
                </a:solidFill>
                <a:latin typeface="Aptos" pitchFamily="34" charset="0"/>
                <a:ea typeface="Aptos" pitchFamily="34" charset="-122"/>
                <a:cs typeface="Aptos" pitchFamily="34" charset="-120"/>
              </a:rPr>
              <a:t>Invitation</a:t>
            </a:r>
            <a:r>
              <a:rPr lang="en-US" sz="1350" dirty="0">
                <a:solidFill>
                  <a:srgbClr val="CBD5E1"/>
                </a:solidFill>
                <a:latin typeface="Aptos" pitchFamily="34" charset="0"/>
                <a:ea typeface="Aptos" pitchFamily="34" charset="-122"/>
                <a:cs typeface="Aptos" pitchFamily="34" charset="-120"/>
              </a:rPr>
              <a:t> est une notification spéciale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txBody>
          <a:bodyPr/>
          <a:lstStyle/>
          <a:p>
            <a:endParaRPr lang="en-US"/>
          </a:p>
        </p:txBody>
      </p:sp>
      <p:sp>
        <p:nvSpPr>
          <p:cNvPr id="3" name="Shape 1"/>
          <p:cNvSpPr/>
          <p:nvPr/>
        </p:nvSpPr>
        <p:spPr>
          <a:xfrm>
            <a:off x="11247120" y="347472"/>
            <a:ext cx="438912"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4" name="Shape 2"/>
          <p:cNvSpPr/>
          <p:nvPr/>
        </p:nvSpPr>
        <p:spPr>
          <a:xfrm>
            <a:off x="11411712" y="566928"/>
            <a:ext cx="512064" cy="18288"/>
          </a:xfrm>
          <a:prstGeom prst="rect">
            <a:avLst/>
          </a:prstGeom>
          <a:solidFill>
            <a:srgbClr val="8B5CF6">
              <a:alpha val="95000"/>
            </a:srgbClr>
          </a:solidFill>
          <a:ln w="12700">
            <a:solidFill>
              <a:srgbClr val="333333">
                <a:alpha val="0"/>
              </a:srgbClr>
            </a:solidFill>
            <a:prstDash val="solid"/>
          </a:ln>
        </p:spPr>
        <p:txBody>
          <a:bodyPr/>
          <a:lstStyle/>
          <a:p>
            <a:endParaRPr lang="en-US"/>
          </a:p>
        </p:txBody>
      </p:sp>
      <p:sp>
        <p:nvSpPr>
          <p:cNvPr id="5" name="Shape 3"/>
          <p:cNvSpPr/>
          <p:nvPr/>
        </p:nvSpPr>
        <p:spPr>
          <a:xfrm>
            <a:off x="11100816" y="786384"/>
            <a:ext cx="402336"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6" name="Text 4"/>
          <p:cNvSpPr/>
          <p:nvPr/>
        </p:nvSpPr>
        <p:spPr>
          <a:xfrm>
            <a:off x="566928" y="402336"/>
            <a:ext cx="4389120" cy="256032"/>
          </a:xfrm>
          <a:prstGeom prst="rect">
            <a:avLst/>
          </a:prstGeom>
          <a:noFill/>
          <a:ln/>
        </p:spPr>
        <p:txBody>
          <a:bodyPr wrap="square" lIns="0" tIns="0" rIns="0" bIns="0" rtlCol="0" anchor="ctr"/>
          <a:lstStyle/>
          <a:p>
            <a:pPr marL="0" indent="0">
              <a:buNone/>
            </a:pPr>
            <a:r>
              <a:rPr lang="en-US" sz="1150" b="1" dirty="0">
                <a:solidFill>
                  <a:srgbClr val="22D3EE"/>
                </a:solidFill>
                <a:latin typeface="Aptos" pitchFamily="34" charset="0"/>
                <a:ea typeface="Aptos" pitchFamily="34" charset="-122"/>
                <a:cs typeface="Aptos" pitchFamily="34" charset="-120"/>
              </a:rPr>
              <a:t>8 · POURQUOI CETTE ARCHITECTURE</a:t>
            </a:r>
            <a:endParaRPr lang="en-US" sz="1150" dirty="0"/>
          </a:p>
        </p:txBody>
      </p:sp>
      <p:sp>
        <p:nvSpPr>
          <p:cNvPr id="7" name="Text 5"/>
          <p:cNvSpPr/>
          <p:nvPr/>
        </p:nvSpPr>
        <p:spPr>
          <a:xfrm>
            <a:off x="548640" y="786384"/>
            <a:ext cx="6217920" cy="548640"/>
          </a:xfrm>
          <a:prstGeom prst="rect">
            <a:avLst/>
          </a:prstGeom>
          <a:noFill/>
          <a:ln/>
        </p:spPr>
        <p:txBody>
          <a:bodyPr wrap="square" lIns="254" tIns="254" rIns="254" bIns="254" rtlCol="0" anchor="ctr">
            <a:normAutofit/>
          </a:bodyPr>
          <a:lstStyle/>
          <a:p>
            <a:pPr marL="0" indent="0">
              <a:buNone/>
            </a:pPr>
            <a:r>
              <a:rPr lang="en-US" sz="2900" b="1" dirty="0">
                <a:solidFill>
                  <a:srgbClr val="F8FAFC"/>
                </a:solidFill>
                <a:latin typeface="Aptos Display" pitchFamily="34" charset="0"/>
                <a:ea typeface="Aptos Display" pitchFamily="34" charset="-122"/>
                <a:cs typeface="Aptos Display" pitchFamily="34" charset="-120"/>
              </a:rPr>
              <a:t>Rationnel derrière les choix</a:t>
            </a:r>
            <a:endParaRPr lang="en-US" sz="2900" dirty="0"/>
          </a:p>
        </p:txBody>
      </p:sp>
      <p:sp>
        <p:nvSpPr>
          <p:cNvPr id="8" name="Shape 6"/>
          <p:cNvSpPr/>
          <p:nvPr/>
        </p:nvSpPr>
        <p:spPr>
          <a:xfrm>
            <a:off x="777240" y="1645920"/>
            <a:ext cx="658368" cy="0"/>
          </a:xfrm>
          <a:prstGeom prst="line">
            <a:avLst/>
          </a:prstGeom>
          <a:noFill/>
          <a:ln w="27940">
            <a:solidFill>
              <a:srgbClr val="22D3EE"/>
            </a:solidFill>
            <a:prstDash val="solid"/>
          </a:ln>
        </p:spPr>
        <p:txBody>
          <a:bodyPr/>
          <a:lstStyle/>
          <a:p>
            <a:endParaRPr lang="en-US"/>
          </a:p>
        </p:txBody>
      </p:sp>
      <p:sp>
        <p:nvSpPr>
          <p:cNvPr id="9" name="Text 7"/>
          <p:cNvSpPr/>
          <p:nvPr/>
        </p:nvSpPr>
        <p:spPr>
          <a:xfrm>
            <a:off x="1600200" y="1444752"/>
            <a:ext cx="2148840" cy="365760"/>
          </a:xfrm>
          <a:prstGeom prst="rect">
            <a:avLst/>
          </a:prstGeom>
          <a:noFill/>
          <a:ln/>
        </p:spPr>
        <p:txBody>
          <a:bodyPr wrap="square" lIns="508" tIns="508" rIns="508" bIns="508" rtlCol="0" anchor="t">
            <a:normAutofit/>
          </a:bodyPr>
          <a:lstStyle/>
          <a:p>
            <a:pPr marL="0" indent="0" algn="l">
              <a:lnSpc>
                <a:spcPct val="92000"/>
              </a:lnSpc>
              <a:buNone/>
            </a:pPr>
            <a:r>
              <a:rPr lang="en-US" sz="1800" b="1" dirty="0">
                <a:solidFill>
                  <a:srgbClr val="F8FAFC"/>
                </a:solidFill>
                <a:latin typeface="Aptos" pitchFamily="34" charset="0"/>
                <a:ea typeface="Aptos" pitchFamily="34" charset="-122"/>
                <a:cs typeface="Aptos" pitchFamily="34" charset="-120"/>
              </a:rPr>
              <a:t>Spring Boot</a:t>
            </a:r>
            <a:endParaRPr lang="en-US" sz="1800" dirty="0"/>
          </a:p>
        </p:txBody>
      </p:sp>
      <p:sp>
        <p:nvSpPr>
          <p:cNvPr id="10" name="Text 8"/>
          <p:cNvSpPr/>
          <p:nvPr/>
        </p:nvSpPr>
        <p:spPr>
          <a:xfrm>
            <a:off x="3840480" y="1444752"/>
            <a:ext cx="6583680" cy="393192"/>
          </a:xfrm>
          <a:prstGeom prst="rect">
            <a:avLst/>
          </a:prstGeom>
          <a:noFill/>
          <a:ln/>
        </p:spPr>
        <p:txBody>
          <a:bodyPr wrap="square" lIns="508" tIns="508" rIns="508" bIns="508" rtlCol="0" anchor="t">
            <a:normAutofit/>
          </a:bodyPr>
          <a:lstStyle/>
          <a:p>
            <a:pPr marL="0" indent="0" algn="l">
              <a:lnSpc>
                <a:spcPct val="92000"/>
              </a:lnSpc>
              <a:buNone/>
            </a:pPr>
            <a:r>
              <a:rPr lang="en-US" sz="1650" dirty="0">
                <a:solidFill>
                  <a:srgbClr val="CBD5E1"/>
                </a:solidFill>
                <a:latin typeface="Aptos" pitchFamily="34" charset="0"/>
                <a:ea typeface="Aptos" pitchFamily="34" charset="-122"/>
                <a:cs typeface="Aptos" pitchFamily="34" charset="-120"/>
              </a:rPr>
              <a:t>Rester en Java tout en ayant une vraie API structurée.</a:t>
            </a:r>
            <a:endParaRPr lang="en-US" sz="1650" dirty="0"/>
          </a:p>
        </p:txBody>
      </p:sp>
      <p:sp>
        <p:nvSpPr>
          <p:cNvPr id="11" name="Shape 9"/>
          <p:cNvSpPr/>
          <p:nvPr/>
        </p:nvSpPr>
        <p:spPr>
          <a:xfrm>
            <a:off x="777240" y="2606040"/>
            <a:ext cx="658368" cy="0"/>
          </a:xfrm>
          <a:prstGeom prst="line">
            <a:avLst/>
          </a:prstGeom>
          <a:noFill/>
          <a:ln w="27940">
            <a:solidFill>
              <a:srgbClr val="3B82F6"/>
            </a:solidFill>
            <a:prstDash val="solid"/>
          </a:ln>
        </p:spPr>
        <p:txBody>
          <a:bodyPr/>
          <a:lstStyle/>
          <a:p>
            <a:endParaRPr lang="en-US"/>
          </a:p>
        </p:txBody>
      </p:sp>
      <p:sp>
        <p:nvSpPr>
          <p:cNvPr id="12" name="Text 10"/>
          <p:cNvSpPr/>
          <p:nvPr/>
        </p:nvSpPr>
        <p:spPr>
          <a:xfrm>
            <a:off x="1600200" y="2404872"/>
            <a:ext cx="2148840" cy="365760"/>
          </a:xfrm>
          <a:prstGeom prst="rect">
            <a:avLst/>
          </a:prstGeom>
          <a:noFill/>
          <a:ln/>
        </p:spPr>
        <p:txBody>
          <a:bodyPr wrap="square" lIns="508" tIns="508" rIns="508" bIns="508" rtlCol="0" anchor="t">
            <a:normAutofit/>
          </a:bodyPr>
          <a:lstStyle/>
          <a:p>
            <a:pPr marL="0" indent="0" algn="l">
              <a:lnSpc>
                <a:spcPct val="92000"/>
              </a:lnSpc>
              <a:buNone/>
            </a:pPr>
            <a:r>
              <a:rPr lang="en-US" sz="1800" b="1" dirty="0">
                <a:solidFill>
                  <a:srgbClr val="F8FAFC"/>
                </a:solidFill>
                <a:latin typeface="Aptos" pitchFamily="34" charset="0"/>
                <a:ea typeface="Aptos" pitchFamily="34" charset="-122"/>
                <a:cs typeface="Aptos" pitchFamily="34" charset="-120"/>
              </a:rPr>
              <a:t>Next.js</a:t>
            </a:r>
            <a:endParaRPr lang="en-US" sz="1800" dirty="0"/>
          </a:p>
        </p:txBody>
      </p:sp>
      <p:sp>
        <p:nvSpPr>
          <p:cNvPr id="13" name="Text 11"/>
          <p:cNvSpPr/>
          <p:nvPr/>
        </p:nvSpPr>
        <p:spPr>
          <a:xfrm>
            <a:off x="3840480" y="2404872"/>
            <a:ext cx="6583680" cy="393192"/>
          </a:xfrm>
          <a:prstGeom prst="rect">
            <a:avLst/>
          </a:prstGeom>
          <a:noFill/>
          <a:ln/>
        </p:spPr>
        <p:txBody>
          <a:bodyPr wrap="square" lIns="508" tIns="508" rIns="508" bIns="508" rtlCol="0" anchor="t">
            <a:normAutofit/>
          </a:bodyPr>
          <a:lstStyle/>
          <a:p>
            <a:pPr marL="0" indent="0" algn="l">
              <a:lnSpc>
                <a:spcPct val="92000"/>
              </a:lnSpc>
              <a:buNone/>
            </a:pPr>
            <a:r>
              <a:rPr lang="en-US" sz="1650" dirty="0">
                <a:solidFill>
                  <a:srgbClr val="CBD5E1"/>
                </a:solidFill>
                <a:latin typeface="Aptos" pitchFamily="34" charset="0"/>
                <a:ea typeface="Aptos" pitchFamily="34" charset="-122"/>
                <a:cs typeface="Aptos" pitchFamily="34" charset="-120"/>
              </a:rPr>
              <a:t>Créer une interface web plus organisée que du React seul.</a:t>
            </a:r>
            <a:endParaRPr lang="en-US" sz="1650" dirty="0"/>
          </a:p>
        </p:txBody>
      </p:sp>
      <p:sp>
        <p:nvSpPr>
          <p:cNvPr id="14" name="Shape 12"/>
          <p:cNvSpPr/>
          <p:nvPr/>
        </p:nvSpPr>
        <p:spPr>
          <a:xfrm>
            <a:off x="777240" y="3566160"/>
            <a:ext cx="658368" cy="0"/>
          </a:xfrm>
          <a:prstGeom prst="line">
            <a:avLst/>
          </a:prstGeom>
          <a:noFill/>
          <a:ln w="27940">
            <a:solidFill>
              <a:srgbClr val="34D399"/>
            </a:solidFill>
            <a:prstDash val="solid"/>
          </a:ln>
        </p:spPr>
        <p:txBody>
          <a:bodyPr/>
          <a:lstStyle/>
          <a:p>
            <a:endParaRPr lang="en-US"/>
          </a:p>
        </p:txBody>
      </p:sp>
      <p:sp>
        <p:nvSpPr>
          <p:cNvPr id="15" name="Text 13"/>
          <p:cNvSpPr/>
          <p:nvPr/>
        </p:nvSpPr>
        <p:spPr>
          <a:xfrm>
            <a:off x="1600200" y="3364992"/>
            <a:ext cx="2148840" cy="365760"/>
          </a:xfrm>
          <a:prstGeom prst="rect">
            <a:avLst/>
          </a:prstGeom>
          <a:noFill/>
          <a:ln/>
        </p:spPr>
        <p:txBody>
          <a:bodyPr wrap="square" lIns="508" tIns="508" rIns="508" bIns="508" rtlCol="0" anchor="t">
            <a:normAutofit/>
          </a:bodyPr>
          <a:lstStyle/>
          <a:p>
            <a:pPr marL="0" indent="0" algn="l">
              <a:lnSpc>
                <a:spcPct val="92000"/>
              </a:lnSpc>
              <a:buNone/>
            </a:pPr>
            <a:r>
              <a:rPr lang="en-US" sz="1800" b="1" dirty="0">
                <a:solidFill>
                  <a:srgbClr val="F8FAFC"/>
                </a:solidFill>
                <a:latin typeface="Aptos" pitchFamily="34" charset="0"/>
                <a:ea typeface="Aptos" pitchFamily="34" charset="-122"/>
                <a:cs typeface="Aptos" pitchFamily="34" charset="-120"/>
              </a:rPr>
              <a:t>PostgreSQL + MongoDB</a:t>
            </a:r>
            <a:endParaRPr lang="en-US" sz="1800" dirty="0"/>
          </a:p>
        </p:txBody>
      </p:sp>
      <p:sp>
        <p:nvSpPr>
          <p:cNvPr id="16" name="Text 14"/>
          <p:cNvSpPr/>
          <p:nvPr/>
        </p:nvSpPr>
        <p:spPr>
          <a:xfrm>
            <a:off x="3840480" y="3364992"/>
            <a:ext cx="6583680" cy="393192"/>
          </a:xfrm>
          <a:prstGeom prst="rect">
            <a:avLst/>
          </a:prstGeom>
          <a:noFill/>
          <a:ln/>
        </p:spPr>
        <p:txBody>
          <a:bodyPr wrap="square" lIns="508" tIns="508" rIns="508" bIns="508" rtlCol="0" anchor="t">
            <a:normAutofit/>
          </a:bodyPr>
          <a:lstStyle/>
          <a:p>
            <a:pPr marL="0" indent="0" algn="l">
              <a:lnSpc>
                <a:spcPct val="92000"/>
              </a:lnSpc>
              <a:buNone/>
            </a:pPr>
            <a:r>
              <a:rPr lang="en-US" sz="1650" dirty="0">
                <a:solidFill>
                  <a:srgbClr val="CBD5E1"/>
                </a:solidFill>
                <a:latin typeface="Aptos" pitchFamily="34" charset="0"/>
                <a:ea typeface="Aptos" pitchFamily="34" charset="-122"/>
                <a:cs typeface="Aptos" pitchFamily="34" charset="-120"/>
              </a:rPr>
              <a:t>Utiliser SQL pour les relations et NoSQL pour les données plus flexibles.</a:t>
            </a:r>
            <a:endParaRPr lang="en-US" sz="1650" dirty="0"/>
          </a:p>
        </p:txBody>
      </p:sp>
      <p:sp>
        <p:nvSpPr>
          <p:cNvPr id="17" name="Shape 15"/>
          <p:cNvSpPr/>
          <p:nvPr/>
        </p:nvSpPr>
        <p:spPr>
          <a:xfrm>
            <a:off x="777240" y="4526280"/>
            <a:ext cx="658368" cy="0"/>
          </a:xfrm>
          <a:prstGeom prst="line">
            <a:avLst/>
          </a:prstGeom>
          <a:noFill/>
          <a:ln w="27940">
            <a:solidFill>
              <a:srgbClr val="8B5CF6"/>
            </a:solidFill>
            <a:prstDash val="solid"/>
          </a:ln>
        </p:spPr>
        <p:txBody>
          <a:bodyPr/>
          <a:lstStyle/>
          <a:p>
            <a:endParaRPr lang="en-US"/>
          </a:p>
        </p:txBody>
      </p:sp>
      <p:sp>
        <p:nvSpPr>
          <p:cNvPr id="18" name="Text 16"/>
          <p:cNvSpPr/>
          <p:nvPr/>
        </p:nvSpPr>
        <p:spPr>
          <a:xfrm>
            <a:off x="1600200" y="4325112"/>
            <a:ext cx="2148840" cy="365760"/>
          </a:xfrm>
          <a:prstGeom prst="rect">
            <a:avLst/>
          </a:prstGeom>
          <a:noFill/>
          <a:ln/>
        </p:spPr>
        <p:txBody>
          <a:bodyPr wrap="square" lIns="508" tIns="508" rIns="508" bIns="508" rtlCol="0" anchor="t">
            <a:normAutofit/>
          </a:bodyPr>
          <a:lstStyle/>
          <a:p>
            <a:pPr marL="0" indent="0" algn="l">
              <a:lnSpc>
                <a:spcPct val="92000"/>
              </a:lnSpc>
              <a:buNone/>
            </a:pPr>
            <a:r>
              <a:rPr lang="en-US" sz="1800" b="1" dirty="0">
                <a:solidFill>
                  <a:srgbClr val="F8FAFC"/>
                </a:solidFill>
                <a:latin typeface="Aptos" pitchFamily="34" charset="0"/>
                <a:ea typeface="Aptos" pitchFamily="34" charset="-122"/>
                <a:cs typeface="Aptos" pitchFamily="34" charset="-120"/>
              </a:rPr>
              <a:t>Cloud</a:t>
            </a:r>
            <a:endParaRPr lang="en-US" sz="1800" dirty="0"/>
          </a:p>
        </p:txBody>
      </p:sp>
      <p:sp>
        <p:nvSpPr>
          <p:cNvPr id="19" name="Text 17"/>
          <p:cNvSpPr/>
          <p:nvPr/>
        </p:nvSpPr>
        <p:spPr>
          <a:xfrm>
            <a:off x="3840480" y="4325112"/>
            <a:ext cx="6583680" cy="393192"/>
          </a:xfrm>
          <a:prstGeom prst="rect">
            <a:avLst/>
          </a:prstGeom>
          <a:noFill/>
          <a:ln/>
        </p:spPr>
        <p:txBody>
          <a:bodyPr wrap="square" lIns="508" tIns="508" rIns="508" bIns="508" rtlCol="0" anchor="t">
            <a:normAutofit/>
          </a:bodyPr>
          <a:lstStyle/>
          <a:p>
            <a:pPr marL="0" indent="0" algn="l">
              <a:lnSpc>
                <a:spcPct val="92000"/>
              </a:lnSpc>
              <a:buNone/>
            </a:pPr>
            <a:r>
              <a:rPr lang="en-US" sz="1650" dirty="0">
                <a:solidFill>
                  <a:srgbClr val="CBD5E1"/>
                </a:solidFill>
                <a:latin typeface="Aptos" pitchFamily="34" charset="0"/>
                <a:ea typeface="Aptos" pitchFamily="34" charset="-122"/>
                <a:cs typeface="Aptos" pitchFamily="34" charset="-120"/>
              </a:rPr>
              <a:t>Faciliter les tests et éviter une installation lourde côté utilisateur.</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txBody>
          <a:bodyPr/>
          <a:lstStyle/>
          <a:p>
            <a:endParaRPr lang="en-US"/>
          </a:p>
        </p:txBody>
      </p:sp>
      <p:sp>
        <p:nvSpPr>
          <p:cNvPr id="3" name="Shape 1"/>
          <p:cNvSpPr/>
          <p:nvPr/>
        </p:nvSpPr>
        <p:spPr>
          <a:xfrm>
            <a:off x="11247120" y="347472"/>
            <a:ext cx="438912"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4" name="Shape 2"/>
          <p:cNvSpPr/>
          <p:nvPr/>
        </p:nvSpPr>
        <p:spPr>
          <a:xfrm>
            <a:off x="11411712" y="566928"/>
            <a:ext cx="512064" cy="18288"/>
          </a:xfrm>
          <a:prstGeom prst="rect">
            <a:avLst/>
          </a:prstGeom>
          <a:solidFill>
            <a:srgbClr val="8B5CF6">
              <a:alpha val="95000"/>
            </a:srgbClr>
          </a:solidFill>
          <a:ln w="12700">
            <a:solidFill>
              <a:srgbClr val="333333">
                <a:alpha val="0"/>
              </a:srgbClr>
            </a:solidFill>
            <a:prstDash val="solid"/>
          </a:ln>
        </p:spPr>
        <p:txBody>
          <a:bodyPr/>
          <a:lstStyle/>
          <a:p>
            <a:endParaRPr lang="en-US"/>
          </a:p>
        </p:txBody>
      </p:sp>
      <p:sp>
        <p:nvSpPr>
          <p:cNvPr id="5" name="Shape 3"/>
          <p:cNvSpPr/>
          <p:nvPr/>
        </p:nvSpPr>
        <p:spPr>
          <a:xfrm>
            <a:off x="11100816" y="786384"/>
            <a:ext cx="402336"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6" name="Text 4"/>
          <p:cNvSpPr/>
          <p:nvPr/>
        </p:nvSpPr>
        <p:spPr>
          <a:xfrm>
            <a:off x="566928" y="402336"/>
            <a:ext cx="4389120" cy="256032"/>
          </a:xfrm>
          <a:prstGeom prst="rect">
            <a:avLst/>
          </a:prstGeom>
          <a:noFill/>
          <a:ln/>
        </p:spPr>
        <p:txBody>
          <a:bodyPr wrap="square" lIns="0" tIns="0" rIns="0" bIns="0" rtlCol="0" anchor="ctr"/>
          <a:lstStyle/>
          <a:p>
            <a:pPr marL="0" indent="0">
              <a:buNone/>
            </a:pPr>
            <a:r>
              <a:rPr lang="en-US" sz="1150" b="1" dirty="0">
                <a:solidFill>
                  <a:srgbClr val="22D3EE"/>
                </a:solidFill>
                <a:latin typeface="Aptos" pitchFamily="34" charset="0"/>
                <a:ea typeface="Aptos" pitchFamily="34" charset="-122"/>
                <a:cs typeface="Aptos" pitchFamily="34" charset="-120"/>
              </a:rPr>
              <a:t>9 · PARCOURS DE PROGRAMMATION</a:t>
            </a:r>
            <a:endParaRPr lang="en-US" sz="1150" dirty="0"/>
          </a:p>
        </p:txBody>
      </p:sp>
      <p:sp>
        <p:nvSpPr>
          <p:cNvPr id="7" name="Text 5"/>
          <p:cNvSpPr/>
          <p:nvPr/>
        </p:nvSpPr>
        <p:spPr>
          <a:xfrm>
            <a:off x="548640" y="786384"/>
            <a:ext cx="6217920" cy="548640"/>
          </a:xfrm>
          <a:prstGeom prst="rect">
            <a:avLst/>
          </a:prstGeom>
          <a:noFill/>
          <a:ln/>
        </p:spPr>
        <p:txBody>
          <a:bodyPr wrap="square" lIns="254" tIns="254" rIns="254" bIns="254" rtlCol="0" anchor="ctr">
            <a:normAutofit/>
          </a:bodyPr>
          <a:lstStyle/>
          <a:p>
            <a:pPr marL="0" indent="0">
              <a:buNone/>
            </a:pPr>
            <a:r>
              <a:rPr lang="en-US" sz="2900" b="1" dirty="0">
                <a:solidFill>
                  <a:srgbClr val="F8FAFC"/>
                </a:solidFill>
                <a:latin typeface="Aptos Display" pitchFamily="34" charset="0"/>
                <a:ea typeface="Aptos Display" pitchFamily="34" charset="-122"/>
                <a:cs typeface="Aptos Display" pitchFamily="34" charset="-120"/>
              </a:rPr>
              <a:t>Apprentissages marquants</a:t>
            </a:r>
            <a:endParaRPr lang="en-US" sz="2900" dirty="0"/>
          </a:p>
        </p:txBody>
      </p:sp>
      <p:sp>
        <p:nvSpPr>
          <p:cNvPr id="8" name="Text 6"/>
          <p:cNvSpPr/>
          <p:nvPr/>
        </p:nvSpPr>
        <p:spPr>
          <a:xfrm>
            <a:off x="804672" y="2514600"/>
            <a:ext cx="1481328" cy="512064"/>
          </a:xfrm>
          <a:prstGeom prst="roundRect">
            <a:avLst/>
          </a:prstGeom>
          <a:solidFill>
            <a:srgbClr val="22D3EE"/>
          </a:solidFill>
          <a:ln w="15875">
            <a:solidFill>
              <a:srgbClr val="22D3EE"/>
            </a:solidFill>
          </a:ln>
        </p:spPr>
        <p:txBody>
          <a:bodyPr wrap="square" lIns="635" tIns="635" rIns="635" bIns="635" rtlCol="0" anchor="ctr">
            <a:normAutofit/>
          </a:bodyPr>
          <a:lstStyle/>
          <a:p>
            <a:pPr marL="0" indent="0" algn="ctr">
              <a:buNone/>
            </a:pPr>
            <a:r>
              <a:rPr lang="en-US" sz="1450" b="1" dirty="0">
                <a:solidFill>
                  <a:srgbClr val="020617"/>
                </a:solidFill>
                <a:latin typeface="Aptos" pitchFamily="34" charset="0"/>
                <a:ea typeface="Aptos" pitchFamily="34" charset="-122"/>
                <a:cs typeface="Aptos" pitchFamily="34" charset="-120"/>
              </a:rPr>
              <a:t>Architecture</a:t>
            </a:r>
            <a:endParaRPr lang="en-US" sz="1450" dirty="0"/>
          </a:p>
        </p:txBody>
      </p:sp>
      <p:sp>
        <p:nvSpPr>
          <p:cNvPr id="9" name="Text 7"/>
          <p:cNvSpPr/>
          <p:nvPr/>
        </p:nvSpPr>
        <p:spPr>
          <a:xfrm>
            <a:off x="658368" y="3310128"/>
            <a:ext cx="1783080" cy="731520"/>
          </a:xfrm>
          <a:prstGeom prst="rect">
            <a:avLst/>
          </a:prstGeom>
          <a:noFill/>
          <a:ln/>
        </p:spPr>
        <p:txBody>
          <a:bodyPr wrap="square" lIns="508" tIns="508" rIns="508" bIns="508" rtlCol="0" anchor="t">
            <a:normAutofit/>
          </a:bodyPr>
          <a:lstStyle/>
          <a:p>
            <a:pPr marL="0" indent="0" algn="ctr">
              <a:lnSpc>
                <a:spcPct val="92000"/>
              </a:lnSpc>
              <a:buNone/>
            </a:pPr>
            <a:r>
              <a:rPr lang="en-US" sz="1360" dirty="0">
                <a:solidFill>
                  <a:srgbClr val="CBD5E1"/>
                </a:solidFill>
                <a:latin typeface="Aptos" pitchFamily="34" charset="0"/>
                <a:ea typeface="Aptos" pitchFamily="34" charset="-122"/>
                <a:cs typeface="Aptos" pitchFamily="34" charset="-120"/>
              </a:rPr>
              <a:t>séparer frontend, API, services et données</a:t>
            </a:r>
            <a:endParaRPr lang="en-US" sz="1360" dirty="0"/>
          </a:p>
        </p:txBody>
      </p:sp>
      <p:sp>
        <p:nvSpPr>
          <p:cNvPr id="10" name="Shape 8"/>
          <p:cNvSpPr/>
          <p:nvPr/>
        </p:nvSpPr>
        <p:spPr>
          <a:xfrm>
            <a:off x="2624328" y="2880360"/>
            <a:ext cx="301752" cy="0"/>
          </a:xfrm>
          <a:prstGeom prst="line">
            <a:avLst/>
          </a:prstGeom>
          <a:noFill/>
          <a:ln w="15240">
            <a:solidFill>
              <a:srgbClr val="334155"/>
            </a:solidFill>
            <a:prstDash val="solid"/>
            <a:headEnd type="none"/>
            <a:tailEnd type="triangle"/>
          </a:ln>
        </p:spPr>
        <p:txBody>
          <a:bodyPr/>
          <a:lstStyle/>
          <a:p>
            <a:endParaRPr lang="en-US"/>
          </a:p>
        </p:txBody>
      </p:sp>
      <p:sp>
        <p:nvSpPr>
          <p:cNvPr id="11" name="Text 9"/>
          <p:cNvSpPr/>
          <p:nvPr/>
        </p:nvSpPr>
        <p:spPr>
          <a:xfrm>
            <a:off x="3017520" y="2514600"/>
            <a:ext cx="1481328" cy="512064"/>
          </a:xfrm>
          <a:prstGeom prst="roundRect">
            <a:avLst/>
          </a:prstGeom>
          <a:solidFill>
            <a:srgbClr val="34D399"/>
          </a:solidFill>
          <a:ln w="15875">
            <a:solidFill>
              <a:srgbClr val="34D399"/>
            </a:solidFill>
          </a:ln>
        </p:spPr>
        <p:txBody>
          <a:bodyPr wrap="square" lIns="635" tIns="635" rIns="635" bIns="635" rtlCol="0" anchor="ctr">
            <a:normAutofit/>
          </a:bodyPr>
          <a:lstStyle/>
          <a:p>
            <a:pPr marL="0" indent="0" algn="ctr">
              <a:buNone/>
            </a:pPr>
            <a:r>
              <a:rPr lang="en-US" sz="1450" b="1" dirty="0">
                <a:solidFill>
                  <a:srgbClr val="020617"/>
                </a:solidFill>
                <a:latin typeface="Aptos" pitchFamily="34" charset="0"/>
                <a:ea typeface="Aptos" pitchFamily="34" charset="-122"/>
                <a:cs typeface="Aptos" pitchFamily="34" charset="-120"/>
              </a:rPr>
              <a:t>Git</a:t>
            </a:r>
            <a:endParaRPr lang="en-US" sz="1450" dirty="0"/>
          </a:p>
        </p:txBody>
      </p:sp>
      <p:sp>
        <p:nvSpPr>
          <p:cNvPr id="12" name="Text 10"/>
          <p:cNvSpPr/>
          <p:nvPr/>
        </p:nvSpPr>
        <p:spPr>
          <a:xfrm>
            <a:off x="2871216" y="3310128"/>
            <a:ext cx="1783080" cy="731520"/>
          </a:xfrm>
          <a:prstGeom prst="rect">
            <a:avLst/>
          </a:prstGeom>
          <a:noFill/>
          <a:ln/>
        </p:spPr>
        <p:txBody>
          <a:bodyPr wrap="square" lIns="508" tIns="508" rIns="508" bIns="508" rtlCol="0" anchor="t">
            <a:normAutofit/>
          </a:bodyPr>
          <a:lstStyle/>
          <a:p>
            <a:pPr marL="0" indent="0" algn="ctr">
              <a:lnSpc>
                <a:spcPct val="92000"/>
              </a:lnSpc>
              <a:buNone/>
            </a:pPr>
            <a:r>
              <a:rPr lang="en-US" sz="1360" dirty="0">
                <a:solidFill>
                  <a:srgbClr val="CBD5E1"/>
                </a:solidFill>
                <a:latin typeface="Aptos" pitchFamily="34" charset="0"/>
                <a:ea typeface="Aptos" pitchFamily="34" charset="-122"/>
                <a:cs typeface="Aptos" pitchFamily="34" charset="-120"/>
              </a:rPr>
              <a:t>travailler avec branches, pull requests et Kanban</a:t>
            </a:r>
            <a:endParaRPr lang="en-US" sz="1360" dirty="0"/>
          </a:p>
        </p:txBody>
      </p:sp>
      <p:sp>
        <p:nvSpPr>
          <p:cNvPr id="13" name="Shape 11"/>
          <p:cNvSpPr/>
          <p:nvPr/>
        </p:nvSpPr>
        <p:spPr>
          <a:xfrm>
            <a:off x="4837176" y="2880360"/>
            <a:ext cx="301752" cy="0"/>
          </a:xfrm>
          <a:prstGeom prst="line">
            <a:avLst/>
          </a:prstGeom>
          <a:noFill/>
          <a:ln w="15240">
            <a:solidFill>
              <a:srgbClr val="334155"/>
            </a:solidFill>
            <a:prstDash val="solid"/>
            <a:headEnd type="none"/>
            <a:tailEnd type="triangle"/>
          </a:ln>
        </p:spPr>
        <p:txBody>
          <a:bodyPr/>
          <a:lstStyle/>
          <a:p>
            <a:endParaRPr lang="en-US"/>
          </a:p>
        </p:txBody>
      </p:sp>
      <p:sp>
        <p:nvSpPr>
          <p:cNvPr id="14" name="Text 12"/>
          <p:cNvSpPr/>
          <p:nvPr/>
        </p:nvSpPr>
        <p:spPr>
          <a:xfrm>
            <a:off x="5230368" y="2514600"/>
            <a:ext cx="1481328" cy="512064"/>
          </a:xfrm>
          <a:prstGeom prst="roundRect">
            <a:avLst/>
          </a:prstGeom>
          <a:solidFill>
            <a:srgbClr val="F59E0B"/>
          </a:solidFill>
          <a:ln w="15875">
            <a:solidFill>
              <a:srgbClr val="F59E0B"/>
            </a:solidFill>
          </a:ln>
        </p:spPr>
        <p:txBody>
          <a:bodyPr wrap="square" lIns="635" tIns="635" rIns="635" bIns="635" rtlCol="0" anchor="ctr">
            <a:normAutofit/>
          </a:bodyPr>
          <a:lstStyle/>
          <a:p>
            <a:pPr marL="0" indent="0" algn="ctr">
              <a:buNone/>
            </a:pPr>
            <a:r>
              <a:rPr lang="en-US" sz="1450" b="1" dirty="0">
                <a:solidFill>
                  <a:srgbClr val="020617"/>
                </a:solidFill>
                <a:latin typeface="Aptos" pitchFamily="34" charset="0"/>
                <a:ea typeface="Aptos" pitchFamily="34" charset="-122"/>
                <a:cs typeface="Aptos" pitchFamily="34" charset="-120"/>
              </a:rPr>
              <a:t>Tests</a:t>
            </a:r>
            <a:endParaRPr lang="en-US" sz="1450" dirty="0"/>
          </a:p>
        </p:txBody>
      </p:sp>
      <p:sp>
        <p:nvSpPr>
          <p:cNvPr id="15" name="Text 13"/>
          <p:cNvSpPr/>
          <p:nvPr/>
        </p:nvSpPr>
        <p:spPr>
          <a:xfrm>
            <a:off x="5084064" y="3310128"/>
            <a:ext cx="1783080" cy="731520"/>
          </a:xfrm>
          <a:prstGeom prst="rect">
            <a:avLst/>
          </a:prstGeom>
          <a:noFill/>
          <a:ln/>
        </p:spPr>
        <p:txBody>
          <a:bodyPr wrap="square" lIns="508" tIns="508" rIns="508" bIns="508" rtlCol="0" anchor="t">
            <a:normAutofit/>
          </a:bodyPr>
          <a:lstStyle/>
          <a:p>
            <a:pPr marL="0" indent="0" algn="ctr">
              <a:lnSpc>
                <a:spcPct val="92000"/>
              </a:lnSpc>
              <a:buNone/>
            </a:pPr>
            <a:r>
              <a:rPr lang="en-US" sz="1360" dirty="0">
                <a:solidFill>
                  <a:srgbClr val="CBD5E1"/>
                </a:solidFill>
                <a:latin typeface="Aptos" pitchFamily="34" charset="0"/>
                <a:ea typeface="Aptos" pitchFamily="34" charset="-122"/>
                <a:cs typeface="Aptos" pitchFamily="34" charset="-120"/>
              </a:rPr>
              <a:t>valider avec Postman, JUnit et tests manuels</a:t>
            </a:r>
            <a:endParaRPr lang="en-US" sz="1360" dirty="0"/>
          </a:p>
        </p:txBody>
      </p:sp>
      <p:sp>
        <p:nvSpPr>
          <p:cNvPr id="16" name="Shape 14"/>
          <p:cNvSpPr/>
          <p:nvPr/>
        </p:nvSpPr>
        <p:spPr>
          <a:xfrm>
            <a:off x="7050024" y="2880360"/>
            <a:ext cx="301752" cy="0"/>
          </a:xfrm>
          <a:prstGeom prst="line">
            <a:avLst/>
          </a:prstGeom>
          <a:noFill/>
          <a:ln w="15240">
            <a:solidFill>
              <a:srgbClr val="334155"/>
            </a:solidFill>
            <a:prstDash val="solid"/>
            <a:headEnd type="none"/>
            <a:tailEnd type="triangle"/>
          </a:ln>
        </p:spPr>
        <p:txBody>
          <a:bodyPr/>
          <a:lstStyle/>
          <a:p>
            <a:endParaRPr lang="en-US"/>
          </a:p>
        </p:txBody>
      </p:sp>
      <p:sp>
        <p:nvSpPr>
          <p:cNvPr id="17" name="Text 15"/>
          <p:cNvSpPr/>
          <p:nvPr/>
        </p:nvSpPr>
        <p:spPr>
          <a:xfrm>
            <a:off x="7443216" y="2514600"/>
            <a:ext cx="1481328" cy="512064"/>
          </a:xfrm>
          <a:prstGeom prst="roundRect">
            <a:avLst/>
          </a:prstGeom>
          <a:solidFill>
            <a:srgbClr val="3B82F6"/>
          </a:solidFill>
          <a:ln w="15875">
            <a:solidFill>
              <a:srgbClr val="3B82F6"/>
            </a:solidFill>
          </a:ln>
        </p:spPr>
        <p:txBody>
          <a:bodyPr wrap="square" lIns="635" tIns="635" rIns="635" bIns="635" rtlCol="0" anchor="ctr">
            <a:normAutofit/>
          </a:bodyPr>
          <a:lstStyle/>
          <a:p>
            <a:pPr marL="0" indent="0" algn="ctr">
              <a:buNone/>
            </a:pPr>
            <a:r>
              <a:rPr lang="en-US" sz="1450" b="1" dirty="0">
                <a:solidFill>
                  <a:srgbClr val="020617"/>
                </a:solidFill>
                <a:latin typeface="Aptos" pitchFamily="34" charset="0"/>
                <a:ea typeface="Aptos" pitchFamily="34" charset="-122"/>
                <a:cs typeface="Aptos" pitchFamily="34" charset="-120"/>
              </a:rPr>
              <a:t>Équipe</a:t>
            </a:r>
            <a:endParaRPr lang="en-US" sz="1450" dirty="0"/>
          </a:p>
        </p:txBody>
      </p:sp>
      <p:sp>
        <p:nvSpPr>
          <p:cNvPr id="18" name="Text 16"/>
          <p:cNvSpPr/>
          <p:nvPr/>
        </p:nvSpPr>
        <p:spPr>
          <a:xfrm>
            <a:off x="7296912" y="3310128"/>
            <a:ext cx="1783080" cy="731520"/>
          </a:xfrm>
          <a:prstGeom prst="rect">
            <a:avLst/>
          </a:prstGeom>
          <a:noFill/>
          <a:ln/>
        </p:spPr>
        <p:txBody>
          <a:bodyPr wrap="square" lIns="508" tIns="508" rIns="508" bIns="508" rtlCol="0" anchor="t">
            <a:normAutofit/>
          </a:bodyPr>
          <a:lstStyle/>
          <a:p>
            <a:pPr marL="0" indent="0" algn="ctr">
              <a:lnSpc>
                <a:spcPct val="92000"/>
              </a:lnSpc>
              <a:buNone/>
            </a:pPr>
            <a:r>
              <a:rPr lang="en-US" sz="1360" dirty="0">
                <a:solidFill>
                  <a:srgbClr val="CBD5E1"/>
                </a:solidFill>
                <a:latin typeface="Aptos" pitchFamily="34" charset="0"/>
                <a:ea typeface="Aptos" pitchFamily="34" charset="-122"/>
                <a:cs typeface="Aptos" pitchFamily="34" charset="-120"/>
              </a:rPr>
              <a:t>répartir les tâches et corriger ensemble</a:t>
            </a:r>
            <a:endParaRPr lang="en-US" sz="1360" dirty="0"/>
          </a:p>
        </p:txBody>
      </p:sp>
      <p:sp>
        <p:nvSpPr>
          <p:cNvPr id="19" name="Shape 17"/>
          <p:cNvSpPr/>
          <p:nvPr/>
        </p:nvSpPr>
        <p:spPr>
          <a:xfrm>
            <a:off x="9262872" y="2880360"/>
            <a:ext cx="301752" cy="0"/>
          </a:xfrm>
          <a:prstGeom prst="line">
            <a:avLst/>
          </a:prstGeom>
          <a:noFill/>
          <a:ln w="15240">
            <a:solidFill>
              <a:srgbClr val="334155"/>
            </a:solidFill>
            <a:prstDash val="solid"/>
            <a:headEnd type="none"/>
            <a:tailEnd type="triangle"/>
          </a:ln>
        </p:spPr>
        <p:txBody>
          <a:bodyPr/>
          <a:lstStyle/>
          <a:p>
            <a:endParaRPr lang="en-US"/>
          </a:p>
        </p:txBody>
      </p:sp>
      <p:sp>
        <p:nvSpPr>
          <p:cNvPr id="20" name="Text 18"/>
          <p:cNvSpPr/>
          <p:nvPr/>
        </p:nvSpPr>
        <p:spPr>
          <a:xfrm>
            <a:off x="9656064" y="2514600"/>
            <a:ext cx="1481328" cy="512064"/>
          </a:xfrm>
          <a:prstGeom prst="roundRect">
            <a:avLst/>
          </a:prstGeom>
          <a:solidFill>
            <a:srgbClr val="8B5CF6"/>
          </a:solidFill>
          <a:ln w="15875">
            <a:solidFill>
              <a:srgbClr val="8B5CF6"/>
            </a:solidFill>
          </a:ln>
        </p:spPr>
        <p:txBody>
          <a:bodyPr wrap="square" lIns="635" tIns="635" rIns="635" bIns="635" rtlCol="0" anchor="ctr">
            <a:normAutofit/>
          </a:bodyPr>
          <a:lstStyle/>
          <a:p>
            <a:pPr marL="0" indent="0" algn="ctr">
              <a:buNone/>
            </a:pPr>
            <a:r>
              <a:rPr lang="en-US" sz="1450" b="1" dirty="0">
                <a:solidFill>
                  <a:srgbClr val="020617"/>
                </a:solidFill>
                <a:latin typeface="Aptos" pitchFamily="34" charset="0"/>
                <a:ea typeface="Aptos" pitchFamily="34" charset="-122"/>
                <a:cs typeface="Aptos" pitchFamily="34" charset="-120"/>
              </a:rPr>
              <a:t>Déploiement</a:t>
            </a:r>
            <a:endParaRPr lang="en-US" sz="1450" dirty="0"/>
          </a:p>
        </p:txBody>
      </p:sp>
      <p:sp>
        <p:nvSpPr>
          <p:cNvPr id="21" name="Text 19"/>
          <p:cNvSpPr/>
          <p:nvPr/>
        </p:nvSpPr>
        <p:spPr>
          <a:xfrm>
            <a:off x="9509760" y="3310128"/>
            <a:ext cx="1783080" cy="731520"/>
          </a:xfrm>
          <a:prstGeom prst="rect">
            <a:avLst/>
          </a:prstGeom>
          <a:noFill/>
          <a:ln/>
        </p:spPr>
        <p:txBody>
          <a:bodyPr wrap="square" lIns="508" tIns="508" rIns="508" bIns="508" rtlCol="0" anchor="t">
            <a:normAutofit/>
          </a:bodyPr>
          <a:lstStyle/>
          <a:p>
            <a:pPr marL="0" indent="0" algn="ctr">
              <a:lnSpc>
                <a:spcPct val="92000"/>
              </a:lnSpc>
              <a:buNone/>
            </a:pPr>
            <a:r>
              <a:rPr lang="en-US" sz="1360" dirty="0">
                <a:solidFill>
                  <a:srgbClr val="CBD5E1"/>
                </a:solidFill>
                <a:latin typeface="Aptos" pitchFamily="34" charset="0"/>
                <a:ea typeface="Aptos" pitchFamily="34" charset="-122"/>
                <a:cs typeface="Aptos" pitchFamily="34" charset="-120"/>
              </a:rPr>
              <a:t>rendre le projet accessible avec le cloud</a:t>
            </a:r>
            <a:endParaRPr lang="en-US" sz="1360" dirty="0"/>
          </a:p>
        </p:txBody>
      </p:sp>
      <p:sp>
        <p:nvSpPr>
          <p:cNvPr id="22" name="Text 20"/>
          <p:cNvSpPr/>
          <p:nvPr/>
        </p:nvSpPr>
        <p:spPr>
          <a:xfrm>
            <a:off x="1207008" y="5074920"/>
            <a:ext cx="9784080" cy="502920"/>
          </a:xfrm>
          <a:prstGeom prst="rect">
            <a:avLst/>
          </a:prstGeom>
          <a:noFill/>
          <a:ln/>
        </p:spPr>
        <p:txBody>
          <a:bodyPr wrap="square" lIns="508" tIns="508" rIns="508" bIns="508" rtlCol="0" anchor="t">
            <a:normAutofit/>
          </a:bodyPr>
          <a:lstStyle/>
          <a:p>
            <a:pPr marL="0" indent="0" algn="ctr">
              <a:lnSpc>
                <a:spcPct val="92000"/>
              </a:lnSpc>
              <a:buNone/>
            </a:pPr>
            <a:r>
              <a:rPr lang="en-US" sz="2400" b="1" dirty="0">
                <a:solidFill>
                  <a:srgbClr val="F8FAFC"/>
                </a:solidFill>
                <a:latin typeface="Aptos Display" pitchFamily="34" charset="0"/>
                <a:ea typeface="Aptos Display" pitchFamily="34" charset="-122"/>
                <a:cs typeface="Aptos Display" pitchFamily="34" charset="-120"/>
              </a:rPr>
              <a:t>Le projet nous a forcés à passer d’un prototype à une application structurée.</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alpha val="0"/>
              </a:srgbClr>
            </a:solidFill>
            <a:prstDash val="solid"/>
          </a:ln>
        </p:spPr>
        <p:txBody>
          <a:bodyPr/>
          <a:lstStyle/>
          <a:p>
            <a:endParaRPr lang="en-US"/>
          </a:p>
        </p:txBody>
      </p:sp>
      <p:sp>
        <p:nvSpPr>
          <p:cNvPr id="3" name="Shape 1"/>
          <p:cNvSpPr/>
          <p:nvPr/>
        </p:nvSpPr>
        <p:spPr>
          <a:xfrm>
            <a:off x="11247120" y="347472"/>
            <a:ext cx="438912"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4" name="Shape 2"/>
          <p:cNvSpPr/>
          <p:nvPr/>
        </p:nvSpPr>
        <p:spPr>
          <a:xfrm>
            <a:off x="11411712" y="566928"/>
            <a:ext cx="512064" cy="18288"/>
          </a:xfrm>
          <a:prstGeom prst="rect">
            <a:avLst/>
          </a:prstGeom>
          <a:solidFill>
            <a:srgbClr val="8B5CF6">
              <a:alpha val="95000"/>
            </a:srgbClr>
          </a:solidFill>
          <a:ln w="12700">
            <a:solidFill>
              <a:srgbClr val="333333">
                <a:alpha val="0"/>
              </a:srgbClr>
            </a:solidFill>
            <a:prstDash val="solid"/>
          </a:ln>
        </p:spPr>
        <p:txBody>
          <a:bodyPr/>
          <a:lstStyle/>
          <a:p>
            <a:endParaRPr lang="en-US"/>
          </a:p>
        </p:txBody>
      </p:sp>
      <p:sp>
        <p:nvSpPr>
          <p:cNvPr id="5" name="Shape 3"/>
          <p:cNvSpPr/>
          <p:nvPr/>
        </p:nvSpPr>
        <p:spPr>
          <a:xfrm>
            <a:off x="11100816" y="786384"/>
            <a:ext cx="402336" cy="18288"/>
          </a:xfrm>
          <a:prstGeom prst="rect">
            <a:avLst/>
          </a:prstGeom>
          <a:solidFill>
            <a:srgbClr val="22D3EE">
              <a:alpha val="95000"/>
            </a:srgbClr>
          </a:solidFill>
          <a:ln w="12700">
            <a:solidFill>
              <a:srgbClr val="333333">
                <a:alpha val="0"/>
              </a:srgbClr>
            </a:solidFill>
            <a:prstDash val="solid"/>
          </a:ln>
        </p:spPr>
        <p:txBody>
          <a:bodyPr/>
          <a:lstStyle/>
          <a:p>
            <a:endParaRPr lang="en-US"/>
          </a:p>
        </p:txBody>
      </p:sp>
      <p:sp>
        <p:nvSpPr>
          <p:cNvPr id="6" name="Text 4"/>
          <p:cNvSpPr/>
          <p:nvPr/>
        </p:nvSpPr>
        <p:spPr>
          <a:xfrm>
            <a:off x="566928" y="402336"/>
            <a:ext cx="4389120" cy="256032"/>
          </a:xfrm>
          <a:prstGeom prst="rect">
            <a:avLst/>
          </a:prstGeom>
          <a:noFill/>
          <a:ln/>
        </p:spPr>
        <p:txBody>
          <a:bodyPr wrap="square" lIns="0" tIns="0" rIns="0" bIns="0" rtlCol="0" anchor="ctr"/>
          <a:lstStyle/>
          <a:p>
            <a:pPr marL="0" indent="0">
              <a:buNone/>
            </a:pPr>
            <a:r>
              <a:rPr lang="en-US" sz="1150" b="1" dirty="0">
                <a:solidFill>
                  <a:srgbClr val="22D3EE"/>
                </a:solidFill>
                <a:latin typeface="Aptos" pitchFamily="34" charset="0"/>
                <a:ea typeface="Aptos" pitchFamily="34" charset="-122"/>
                <a:cs typeface="Aptos" pitchFamily="34" charset="-120"/>
              </a:rPr>
              <a:t>10 · FIN ET DÉMONSTRATION</a:t>
            </a:r>
            <a:endParaRPr lang="en-US" sz="1150" dirty="0"/>
          </a:p>
        </p:txBody>
      </p:sp>
      <p:sp>
        <p:nvSpPr>
          <p:cNvPr id="7" name="Text 5"/>
          <p:cNvSpPr/>
          <p:nvPr/>
        </p:nvSpPr>
        <p:spPr>
          <a:xfrm>
            <a:off x="548640" y="786384"/>
            <a:ext cx="6217920" cy="548640"/>
          </a:xfrm>
          <a:prstGeom prst="rect">
            <a:avLst/>
          </a:prstGeom>
          <a:noFill/>
          <a:ln/>
        </p:spPr>
        <p:txBody>
          <a:bodyPr wrap="square" lIns="254" tIns="254" rIns="254" bIns="254" rtlCol="0" anchor="ctr">
            <a:normAutofit/>
          </a:bodyPr>
          <a:lstStyle/>
          <a:p>
            <a:pPr marL="0" indent="0">
              <a:buNone/>
            </a:pPr>
            <a:r>
              <a:rPr lang="en-US" sz="2900" b="1" dirty="0">
                <a:solidFill>
                  <a:srgbClr val="F8FAFC"/>
                </a:solidFill>
                <a:latin typeface="Aptos Display" pitchFamily="34" charset="0"/>
                <a:ea typeface="Aptos Display" pitchFamily="34" charset="-122"/>
                <a:cs typeface="Aptos Display" pitchFamily="34" charset="-120"/>
              </a:rPr>
              <a:t>Conclusion</a:t>
            </a:r>
            <a:endParaRPr lang="en-US" sz="2900" dirty="0"/>
          </a:p>
        </p:txBody>
      </p:sp>
      <p:sp>
        <p:nvSpPr>
          <p:cNvPr id="8" name="Text 6"/>
          <p:cNvSpPr/>
          <p:nvPr/>
        </p:nvSpPr>
        <p:spPr>
          <a:xfrm>
            <a:off x="777240" y="1508760"/>
            <a:ext cx="10332720" cy="658368"/>
          </a:xfrm>
          <a:prstGeom prst="rect">
            <a:avLst/>
          </a:prstGeom>
          <a:noFill/>
          <a:ln/>
        </p:spPr>
        <p:txBody>
          <a:bodyPr wrap="square" lIns="508" tIns="508" rIns="508" bIns="508" rtlCol="0" anchor="t">
            <a:normAutofit/>
          </a:bodyPr>
          <a:lstStyle/>
          <a:p>
            <a:pPr marL="0" indent="0" algn="ctr">
              <a:lnSpc>
                <a:spcPct val="92000"/>
              </a:lnSpc>
              <a:buNone/>
            </a:pPr>
            <a:r>
              <a:rPr lang="en-US" sz="2600" b="1" dirty="0">
                <a:solidFill>
                  <a:srgbClr val="F8FAFC"/>
                </a:solidFill>
                <a:latin typeface="Aptos Display" pitchFamily="34" charset="0"/>
                <a:ea typeface="Aptos Display" pitchFamily="34" charset="-122"/>
                <a:cs typeface="Aptos Display" pitchFamily="34" charset="-120"/>
              </a:rPr>
              <a:t>LinkUp transforme un problème simple du quotidien étudiant en application web complète.</a:t>
            </a:r>
            <a:endParaRPr lang="en-US" sz="2600" dirty="0"/>
          </a:p>
        </p:txBody>
      </p:sp>
      <p:sp>
        <p:nvSpPr>
          <p:cNvPr id="9" name="Text 7"/>
          <p:cNvSpPr/>
          <p:nvPr/>
        </p:nvSpPr>
        <p:spPr>
          <a:xfrm>
            <a:off x="1188720" y="2971800"/>
            <a:ext cx="475488" cy="475488"/>
          </a:xfrm>
          <a:prstGeom prst="roundRect">
            <a:avLst/>
          </a:prstGeom>
          <a:solidFill>
            <a:srgbClr val="3B82F6"/>
          </a:solidFill>
          <a:ln w="15875">
            <a:solidFill>
              <a:srgbClr val="3B82F6"/>
            </a:solidFill>
          </a:ln>
        </p:spPr>
        <p:txBody>
          <a:bodyPr wrap="square" lIns="635" tIns="635" rIns="635" bIns="635" rtlCol="0" anchor="ctr">
            <a:normAutofit/>
          </a:bodyPr>
          <a:lstStyle/>
          <a:p>
            <a:pPr marL="0" indent="0" algn="ctr">
              <a:buNone/>
            </a:pPr>
            <a:r>
              <a:rPr lang="en-US" sz="1800" b="1" dirty="0">
                <a:solidFill>
                  <a:srgbClr val="020617"/>
                </a:solidFill>
                <a:latin typeface="Aptos" pitchFamily="34" charset="0"/>
                <a:ea typeface="Aptos" pitchFamily="34" charset="-122"/>
                <a:cs typeface="Aptos" pitchFamily="34" charset="-120"/>
              </a:rPr>
              <a:t>1</a:t>
            </a:r>
            <a:endParaRPr lang="en-US" sz="1800" dirty="0"/>
          </a:p>
        </p:txBody>
      </p:sp>
      <p:sp>
        <p:nvSpPr>
          <p:cNvPr id="10" name="Text 8"/>
          <p:cNvSpPr/>
          <p:nvPr/>
        </p:nvSpPr>
        <p:spPr>
          <a:xfrm>
            <a:off x="1847088" y="2971800"/>
            <a:ext cx="1508760" cy="731520"/>
          </a:xfrm>
          <a:prstGeom prst="rect">
            <a:avLst/>
          </a:prstGeom>
          <a:noFill/>
          <a:ln/>
        </p:spPr>
        <p:txBody>
          <a:bodyPr wrap="square" lIns="508" tIns="508" rIns="508" bIns="508" rtlCol="0" anchor="t">
            <a:normAutofit/>
          </a:bodyPr>
          <a:lstStyle/>
          <a:p>
            <a:pPr marL="0" indent="0" algn="l">
              <a:lnSpc>
                <a:spcPct val="92000"/>
              </a:lnSpc>
              <a:buNone/>
            </a:pPr>
            <a:r>
              <a:rPr lang="en-US" sz="1450" dirty="0">
                <a:solidFill>
                  <a:srgbClr val="CBD5E1"/>
                </a:solidFill>
                <a:latin typeface="Aptos" pitchFamily="34" charset="0"/>
                <a:ea typeface="Aptos" pitchFamily="34" charset="-122"/>
                <a:cs typeface="Aptos" pitchFamily="34" charset="-120"/>
              </a:rPr>
              <a:t>Montrer le compte et la connexion</a:t>
            </a:r>
            <a:endParaRPr lang="en-US" sz="1450" dirty="0"/>
          </a:p>
        </p:txBody>
      </p:sp>
      <p:sp>
        <p:nvSpPr>
          <p:cNvPr id="11" name="Text 9"/>
          <p:cNvSpPr/>
          <p:nvPr/>
        </p:nvSpPr>
        <p:spPr>
          <a:xfrm>
            <a:off x="3703320" y="2971800"/>
            <a:ext cx="475488" cy="475488"/>
          </a:xfrm>
          <a:prstGeom prst="roundRect">
            <a:avLst/>
          </a:prstGeom>
          <a:solidFill>
            <a:srgbClr val="34D399"/>
          </a:solidFill>
          <a:ln w="15875">
            <a:solidFill>
              <a:srgbClr val="34D399"/>
            </a:solidFill>
          </a:ln>
        </p:spPr>
        <p:txBody>
          <a:bodyPr wrap="square" lIns="635" tIns="635" rIns="635" bIns="635" rtlCol="0" anchor="ctr">
            <a:normAutofit/>
          </a:bodyPr>
          <a:lstStyle/>
          <a:p>
            <a:pPr marL="0" indent="0" algn="ctr">
              <a:buNone/>
            </a:pPr>
            <a:r>
              <a:rPr lang="en-US" sz="1800" b="1" dirty="0">
                <a:solidFill>
                  <a:srgbClr val="020617"/>
                </a:solidFill>
                <a:latin typeface="Aptos" pitchFamily="34" charset="0"/>
                <a:ea typeface="Aptos" pitchFamily="34" charset="-122"/>
                <a:cs typeface="Aptos" pitchFamily="34" charset="-120"/>
              </a:rPr>
              <a:t>2</a:t>
            </a:r>
            <a:endParaRPr lang="en-US" sz="1800" dirty="0"/>
          </a:p>
        </p:txBody>
      </p:sp>
      <p:sp>
        <p:nvSpPr>
          <p:cNvPr id="12" name="Text 10"/>
          <p:cNvSpPr/>
          <p:nvPr/>
        </p:nvSpPr>
        <p:spPr>
          <a:xfrm>
            <a:off x="4361688" y="2971800"/>
            <a:ext cx="1508760" cy="731520"/>
          </a:xfrm>
          <a:prstGeom prst="rect">
            <a:avLst/>
          </a:prstGeom>
          <a:noFill/>
          <a:ln/>
        </p:spPr>
        <p:txBody>
          <a:bodyPr wrap="square" lIns="508" tIns="508" rIns="508" bIns="508" rtlCol="0" anchor="t">
            <a:normAutofit/>
          </a:bodyPr>
          <a:lstStyle/>
          <a:p>
            <a:pPr marL="0" indent="0" algn="l">
              <a:lnSpc>
                <a:spcPct val="92000"/>
              </a:lnSpc>
              <a:buNone/>
            </a:pPr>
            <a:r>
              <a:rPr lang="en-US" sz="1450" dirty="0">
                <a:solidFill>
                  <a:srgbClr val="CBD5E1"/>
                </a:solidFill>
                <a:latin typeface="Aptos" pitchFamily="34" charset="0"/>
                <a:ea typeface="Aptos" pitchFamily="34" charset="-122"/>
                <a:cs typeface="Aptos" pitchFamily="34" charset="-120"/>
              </a:rPr>
              <a:t>Montrer l’horaire</a:t>
            </a:r>
            <a:endParaRPr lang="en-US" sz="1450" dirty="0"/>
          </a:p>
        </p:txBody>
      </p:sp>
      <p:sp>
        <p:nvSpPr>
          <p:cNvPr id="13" name="Text 11"/>
          <p:cNvSpPr/>
          <p:nvPr/>
        </p:nvSpPr>
        <p:spPr>
          <a:xfrm>
            <a:off x="6217920" y="2971800"/>
            <a:ext cx="475488" cy="475488"/>
          </a:xfrm>
          <a:prstGeom prst="roundRect">
            <a:avLst/>
          </a:prstGeom>
          <a:solidFill>
            <a:srgbClr val="8B5CF6"/>
          </a:solidFill>
          <a:ln w="15875">
            <a:solidFill>
              <a:srgbClr val="8B5CF6"/>
            </a:solidFill>
          </a:ln>
        </p:spPr>
        <p:txBody>
          <a:bodyPr wrap="square" lIns="635" tIns="635" rIns="635" bIns="635" rtlCol="0" anchor="ctr">
            <a:normAutofit/>
          </a:bodyPr>
          <a:lstStyle/>
          <a:p>
            <a:pPr marL="0" indent="0" algn="ctr">
              <a:buNone/>
            </a:pPr>
            <a:r>
              <a:rPr lang="en-US" sz="1800" b="1" dirty="0">
                <a:solidFill>
                  <a:srgbClr val="020617"/>
                </a:solidFill>
                <a:latin typeface="Aptos" pitchFamily="34" charset="0"/>
                <a:ea typeface="Aptos" pitchFamily="34" charset="-122"/>
                <a:cs typeface="Aptos" pitchFamily="34" charset="-120"/>
              </a:rPr>
              <a:t>3</a:t>
            </a:r>
            <a:endParaRPr lang="en-US" sz="1800" dirty="0"/>
          </a:p>
        </p:txBody>
      </p:sp>
      <p:sp>
        <p:nvSpPr>
          <p:cNvPr id="14" name="Text 12"/>
          <p:cNvSpPr/>
          <p:nvPr/>
        </p:nvSpPr>
        <p:spPr>
          <a:xfrm>
            <a:off x="6876288" y="2971800"/>
            <a:ext cx="1508760" cy="731520"/>
          </a:xfrm>
          <a:prstGeom prst="rect">
            <a:avLst/>
          </a:prstGeom>
          <a:noFill/>
          <a:ln/>
        </p:spPr>
        <p:txBody>
          <a:bodyPr wrap="square" lIns="508" tIns="508" rIns="508" bIns="508" rtlCol="0" anchor="t">
            <a:normAutofit/>
          </a:bodyPr>
          <a:lstStyle/>
          <a:p>
            <a:pPr marL="0" indent="0" algn="l">
              <a:lnSpc>
                <a:spcPct val="92000"/>
              </a:lnSpc>
              <a:buNone/>
            </a:pPr>
            <a:r>
              <a:rPr lang="en-US" sz="1450" dirty="0">
                <a:solidFill>
                  <a:srgbClr val="CBD5E1"/>
                </a:solidFill>
                <a:latin typeface="Aptos" pitchFamily="34" charset="0"/>
                <a:ea typeface="Aptos" pitchFamily="34" charset="-122"/>
                <a:cs typeface="Aptos" pitchFamily="34" charset="-120"/>
              </a:rPr>
              <a:t>Montrer les groupes et demandes</a:t>
            </a:r>
            <a:endParaRPr lang="en-US" sz="1450" dirty="0"/>
          </a:p>
        </p:txBody>
      </p:sp>
      <p:sp>
        <p:nvSpPr>
          <p:cNvPr id="15" name="Text 13"/>
          <p:cNvSpPr/>
          <p:nvPr/>
        </p:nvSpPr>
        <p:spPr>
          <a:xfrm>
            <a:off x="8732520" y="2971800"/>
            <a:ext cx="475488" cy="475488"/>
          </a:xfrm>
          <a:prstGeom prst="roundRect">
            <a:avLst/>
          </a:prstGeom>
          <a:solidFill>
            <a:srgbClr val="22D3EE"/>
          </a:solidFill>
          <a:ln w="15875">
            <a:solidFill>
              <a:srgbClr val="22D3EE"/>
            </a:solidFill>
          </a:ln>
        </p:spPr>
        <p:txBody>
          <a:bodyPr wrap="square" lIns="635" tIns="635" rIns="635" bIns="635" rtlCol="0" anchor="ctr">
            <a:normAutofit/>
          </a:bodyPr>
          <a:lstStyle/>
          <a:p>
            <a:pPr marL="0" indent="0" algn="ctr">
              <a:buNone/>
            </a:pPr>
            <a:r>
              <a:rPr lang="en-US" sz="1800" b="1" dirty="0">
                <a:solidFill>
                  <a:srgbClr val="020617"/>
                </a:solidFill>
                <a:latin typeface="Aptos" pitchFamily="34" charset="0"/>
                <a:ea typeface="Aptos" pitchFamily="34" charset="-122"/>
                <a:cs typeface="Aptos" pitchFamily="34" charset="-120"/>
              </a:rPr>
              <a:t>4</a:t>
            </a:r>
            <a:endParaRPr lang="en-US" sz="1800" dirty="0"/>
          </a:p>
        </p:txBody>
      </p:sp>
      <p:sp>
        <p:nvSpPr>
          <p:cNvPr id="16" name="Text 14"/>
          <p:cNvSpPr/>
          <p:nvPr/>
        </p:nvSpPr>
        <p:spPr>
          <a:xfrm>
            <a:off x="9390888" y="2971800"/>
            <a:ext cx="1508760" cy="731520"/>
          </a:xfrm>
          <a:prstGeom prst="rect">
            <a:avLst/>
          </a:prstGeom>
          <a:noFill/>
          <a:ln/>
        </p:spPr>
        <p:txBody>
          <a:bodyPr wrap="square" lIns="508" tIns="508" rIns="508" bIns="508" rtlCol="0" anchor="t">
            <a:normAutofit/>
          </a:bodyPr>
          <a:lstStyle/>
          <a:p>
            <a:pPr marL="0" indent="0" algn="l">
              <a:lnSpc>
                <a:spcPct val="92000"/>
              </a:lnSpc>
              <a:buNone/>
            </a:pPr>
            <a:r>
              <a:rPr lang="en-US" sz="1450" dirty="0">
                <a:solidFill>
                  <a:srgbClr val="CBD5E1"/>
                </a:solidFill>
                <a:latin typeface="Aptos" pitchFamily="34" charset="0"/>
                <a:ea typeface="Aptos" pitchFamily="34" charset="-122"/>
                <a:cs typeface="Aptos" pitchFamily="34" charset="-120"/>
              </a:rPr>
              <a:t>Montrer les disponibilités communes</a:t>
            </a:r>
            <a:endParaRPr lang="en-US" sz="1450" dirty="0"/>
          </a:p>
        </p:txBody>
      </p:sp>
      <p:sp>
        <p:nvSpPr>
          <p:cNvPr id="17" name="Text 15"/>
          <p:cNvSpPr/>
          <p:nvPr/>
        </p:nvSpPr>
        <p:spPr>
          <a:xfrm>
            <a:off x="4709160" y="5074920"/>
            <a:ext cx="2697480" cy="566928"/>
          </a:xfrm>
          <a:prstGeom prst="roundRect">
            <a:avLst/>
          </a:prstGeom>
          <a:solidFill>
            <a:srgbClr val="22D3EE"/>
          </a:solidFill>
          <a:ln w="12700">
            <a:solidFill>
              <a:srgbClr val="22D3EE"/>
            </a:solidFill>
          </a:ln>
        </p:spPr>
        <p:txBody>
          <a:bodyPr wrap="square" lIns="381" tIns="381" rIns="381" bIns="381" rtlCol="0" anchor="ctr">
            <a:normAutofit/>
          </a:bodyPr>
          <a:lstStyle/>
          <a:p>
            <a:pPr marL="0" indent="0" algn="ctr">
              <a:buNone/>
            </a:pPr>
            <a:r>
              <a:rPr lang="en-US" sz="1800" b="1" dirty="0">
                <a:solidFill>
                  <a:srgbClr val="020617"/>
                </a:solidFill>
                <a:latin typeface="Aptos" pitchFamily="34" charset="0"/>
                <a:ea typeface="Aptos" pitchFamily="34" charset="-122"/>
                <a:cs typeface="Aptos" pitchFamily="34" charset="-120"/>
              </a:rPr>
              <a:t>Démo en direct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1138</Words>
  <Application>Microsoft Macintosh PowerPoint</Application>
  <PresentationFormat>Widescreen</PresentationFormat>
  <Paragraphs>150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Musketeers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LinkUp - Présentation</dc:title>
  <dc:subject>Présentation du projet LinkUp</dc:subject>
  <dc:creator>OpenAI</dc:creator>
  <cp:lastModifiedBy>Eid, Carl-Charbel</cp:lastModifiedBy>
  <cp:revision>2</cp:revision>
  <dcterms:created xsi:type="dcterms:W3CDTF">2026-05-21T02:02:06Z</dcterms:created>
  <dcterms:modified xsi:type="dcterms:W3CDTF">2026-05-21T17:59:50Z</dcterms:modified>
</cp:coreProperties>
</file>